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59" r:id="rId6"/>
    <p:sldId id="260" r:id="rId7"/>
    <p:sldId id="261" r:id="rId8"/>
    <p:sldId id="262" r:id="rId9"/>
    <p:sldId id="264" r:id="rId10"/>
    <p:sldId id="265" r:id="rId11"/>
    <p:sldId id="266" r:id="rId12"/>
    <p:sldId id="267" r:id="rId13"/>
    <p:sldId id="268"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F54313-B310-180F-AD7D-EF3221BBB17E}"/>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566BA211-6115-32E7-6BE1-A46E22AD8A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A75AE83C-9219-722C-B617-B85C1375097C}"/>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F8FF1547-EC38-C2BF-E40C-C6ED63ECBA7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294177D-F4CC-C043-2F40-4B6F0B8FB92D}"/>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435589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4E9949-E0DF-FA07-BC5A-BC78588405F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30022D5-223A-068B-7F15-9132408A2857}"/>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F41BA55-15B7-035A-2EB1-DBD5F5E57053}"/>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420399FA-4EB0-5B30-F85E-547CCEE8611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46A34A7-6519-CB57-C07D-91AE23A65192}"/>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2413184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C72B01-50B3-4F92-987D-F770D4F88DFE}"/>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1C9EFA75-9A52-FC9F-3570-FC26EDAD58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6F84AAB6-C6F1-4C4A-1E36-332196D225B4}"/>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8F247D4B-4CC9-E997-6CC5-9134E24C633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0B10705-7FA4-AB2C-FF30-43687B7F4301}"/>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1377548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9A5F1A-5BD1-8EC5-A086-4F8F711A97AE}"/>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CA033E0-8B92-09F8-E12B-F4AE66CFC95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5EE4AB7-CC50-130C-B299-A1925008D5A6}"/>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AEA5E4B4-B77C-58F4-FD85-BC452D65A8D2}"/>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6" name="Fußzeilenplatzhalter 5">
            <a:extLst>
              <a:ext uri="{FF2B5EF4-FFF2-40B4-BE49-F238E27FC236}">
                <a16:creationId xmlns:a16="http://schemas.microsoft.com/office/drawing/2014/main" id="{53E760DB-B8D0-867A-2B76-F9B7EF2279C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654FD18-7A3D-A0E2-AAD2-EEAC418AC612}"/>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705361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C785B8-86BF-8038-1E46-31EE0A6CA8C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A0CCB10-29F8-012B-09C6-18EB615ECC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DC8FAFF0-FCEC-E301-29B0-F93E31CE2C0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E1C82E3B-52F3-0141-FE28-C81D6BC4CB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05A56D52-ECB0-9960-C1F0-74DC7EA14284}"/>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831D4DCE-BD94-F232-5972-41222B277FC6}"/>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8" name="Fußzeilenplatzhalter 7">
            <a:extLst>
              <a:ext uri="{FF2B5EF4-FFF2-40B4-BE49-F238E27FC236}">
                <a16:creationId xmlns:a16="http://schemas.microsoft.com/office/drawing/2014/main" id="{E41E8BA7-0B38-80DB-A849-192B87FD7854}"/>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E244DC47-C49E-9A61-940C-663E35B4B749}"/>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446237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1EE47E-20D7-DB1A-8591-02379313BB35}"/>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B6BB0584-EE46-285C-FFBE-398C8F4CF6FD}"/>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4" name="Fußzeilenplatzhalter 3">
            <a:extLst>
              <a:ext uri="{FF2B5EF4-FFF2-40B4-BE49-F238E27FC236}">
                <a16:creationId xmlns:a16="http://schemas.microsoft.com/office/drawing/2014/main" id="{6026C591-4C19-CF3D-1636-A6EF0EDD27E8}"/>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57AED797-2B5A-75AA-2363-4C1D02E0391A}"/>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054122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A84A61D-DB26-CA34-B5D7-6FE991B9D47B}"/>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3" name="Fußzeilenplatzhalter 2">
            <a:extLst>
              <a:ext uri="{FF2B5EF4-FFF2-40B4-BE49-F238E27FC236}">
                <a16:creationId xmlns:a16="http://schemas.microsoft.com/office/drawing/2014/main" id="{6A294ACA-6C60-2508-6E27-D56BE4664AC8}"/>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7CDFD3B9-9C07-01D2-7830-EECDB0DAEA22}"/>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182400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446949-52A5-C256-73BF-0992D40D856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954E5709-4C0D-3F83-A61B-3233FB713A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D225D99-1E16-EFA9-3ECC-94F30C513A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840298D-BA25-2E38-90A4-1A039B922D18}"/>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6" name="Fußzeilenplatzhalter 5">
            <a:extLst>
              <a:ext uri="{FF2B5EF4-FFF2-40B4-BE49-F238E27FC236}">
                <a16:creationId xmlns:a16="http://schemas.microsoft.com/office/drawing/2014/main" id="{E882FE8A-4125-57D5-107B-890250C503A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DFC8C1E-E81C-B8D3-37A7-5EB46EB15813}"/>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2668649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0EEBD7-4092-F897-E1BC-25EF4F36854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4EE983C0-64F4-C0AF-A96B-BCBC06D3C4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E3F88448-71D8-177C-A0BF-33B972290D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11DB9D7-2A87-11AE-E597-7152F9BB5707}"/>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6" name="Fußzeilenplatzhalter 5">
            <a:extLst>
              <a:ext uri="{FF2B5EF4-FFF2-40B4-BE49-F238E27FC236}">
                <a16:creationId xmlns:a16="http://schemas.microsoft.com/office/drawing/2014/main" id="{67E7AD3F-DA64-329B-EB7B-8458CE6118B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7B52A6E-4AC1-AC7F-91D1-361825E6EBFA}"/>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4234212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B01B96-B607-047C-A9F9-E993DA56F7A3}"/>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AC0D228-4C30-9141-4086-93EFD83BF10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A9B9670-8C76-3166-4463-A0EFF8421380}"/>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1D069CA2-3A3E-3533-16F2-135A4ACBF51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BD38405-9797-DADA-7747-E299DAEF8A7E}"/>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128574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0A6649BF-D567-52A5-825C-811B041756B4}"/>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EE7D32FA-72ED-FEFB-4A7E-EBA2DF9606B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9E07A51-5BA4-2B75-2D4A-45C8A653ED70}"/>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30663A5C-A2A5-EDC0-3A50-D45E21A018A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AC8BE05-F8A7-9279-33CF-7DFE638A7AB8}"/>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241725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10AE4B27-1C80-B176-F757-BB9261D8D3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8BB405A-F922-6A0A-FF11-1CFF2A169B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D19551F-29A9-AF11-FE9D-8DEBE0215A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ABFEF9B5-4594-948E-AE36-8A29A444C9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656B690B-C5C8-3B31-6A9C-6C52AB8E22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251280-DAE6-4033-B7F4-5E0D817A0287}" type="slidenum">
              <a:rPr lang="de-DE" smtClean="0"/>
              <a:t>‹Nr.›</a:t>
            </a:fld>
            <a:endParaRPr lang="de-DE"/>
          </a:p>
        </p:txBody>
      </p:sp>
    </p:spTree>
    <p:extLst>
      <p:ext uri="{BB962C8B-B14F-4D97-AF65-F5344CB8AC3E}">
        <p14:creationId xmlns:p14="http://schemas.microsoft.com/office/powerpoint/2010/main" val="4207886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D8BE5E-5C70-416B-A126-3609E0E10C01}"/>
              </a:ext>
            </a:extLst>
          </p:cNvPr>
          <p:cNvSpPr>
            <a:spLocks noGrp="1"/>
          </p:cNvSpPr>
          <p:nvPr>
            <p:ph type="ctrTitle"/>
          </p:nvPr>
        </p:nvSpPr>
        <p:spPr/>
        <p:txBody>
          <a:bodyPr/>
          <a:lstStyle/>
          <a:p>
            <a:r>
              <a:rPr lang="de-DE" dirty="0"/>
              <a:t>Projekt Brotzeit</a:t>
            </a:r>
          </a:p>
        </p:txBody>
      </p:sp>
      <p:sp>
        <p:nvSpPr>
          <p:cNvPr id="3" name="Untertitel 2">
            <a:extLst>
              <a:ext uri="{FF2B5EF4-FFF2-40B4-BE49-F238E27FC236}">
                <a16:creationId xmlns:a16="http://schemas.microsoft.com/office/drawing/2014/main" id="{E5D932DE-99A5-37B0-128B-9DBE37BF9926}"/>
              </a:ext>
            </a:extLst>
          </p:cNvPr>
          <p:cNvSpPr>
            <a:spLocks noGrp="1"/>
          </p:cNvSpPr>
          <p:nvPr>
            <p:ph type="subTitle" idx="1"/>
          </p:nvPr>
        </p:nvSpPr>
        <p:spPr/>
        <p:txBody>
          <a:bodyPr>
            <a:normAutofit fontScale="77500" lnSpcReduction="20000"/>
          </a:bodyPr>
          <a:lstStyle/>
          <a:p>
            <a:r>
              <a:rPr lang="de-DE" dirty="0"/>
              <a:t>Modul: Data Engineer</a:t>
            </a:r>
          </a:p>
          <a:p>
            <a:r>
              <a:rPr lang="de-DE" dirty="0"/>
              <a:t>Gruppe N1: </a:t>
            </a:r>
          </a:p>
          <a:p>
            <a:r>
              <a:rPr lang="de-DE" dirty="0"/>
              <a:t>Christine van </a:t>
            </a:r>
            <a:r>
              <a:rPr lang="de-DE" dirty="0" err="1"/>
              <a:t>Stiphoudt</a:t>
            </a:r>
            <a:endParaRPr lang="de-DE" dirty="0"/>
          </a:p>
          <a:p>
            <a:r>
              <a:rPr lang="de-DE" dirty="0"/>
              <a:t>Thora Luise Fiedler</a:t>
            </a:r>
          </a:p>
          <a:p>
            <a:r>
              <a:rPr lang="de-DE" dirty="0"/>
              <a:t>Tabita Pothmann</a:t>
            </a:r>
          </a:p>
        </p:txBody>
      </p:sp>
    </p:spTree>
    <p:extLst>
      <p:ext uri="{BB962C8B-B14F-4D97-AF65-F5344CB8AC3E}">
        <p14:creationId xmlns:p14="http://schemas.microsoft.com/office/powerpoint/2010/main" val="4256554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7E5309-D527-F11C-F4CC-7CDC9DAE65D1}"/>
              </a:ext>
            </a:extLst>
          </p:cNvPr>
          <p:cNvSpPr>
            <a:spLocks noGrp="1"/>
          </p:cNvSpPr>
          <p:nvPr>
            <p:ph type="title"/>
          </p:nvPr>
        </p:nvSpPr>
        <p:spPr/>
        <p:txBody>
          <a:bodyPr/>
          <a:lstStyle/>
          <a:p>
            <a:r>
              <a:rPr lang="de-DE" dirty="0"/>
              <a:t>Projektbeschreibung</a:t>
            </a:r>
          </a:p>
        </p:txBody>
      </p:sp>
      <p:sp>
        <p:nvSpPr>
          <p:cNvPr id="3" name="Inhaltsplatzhalter 2">
            <a:extLst>
              <a:ext uri="{FF2B5EF4-FFF2-40B4-BE49-F238E27FC236}">
                <a16:creationId xmlns:a16="http://schemas.microsoft.com/office/drawing/2014/main" id="{2C004C3D-CDAF-60F4-A0A6-EFB2D439C740}"/>
              </a:ext>
            </a:extLst>
          </p:cNvPr>
          <p:cNvSpPr>
            <a:spLocks noGrp="1"/>
          </p:cNvSpPr>
          <p:nvPr>
            <p:ph idx="1"/>
          </p:nvPr>
        </p:nvSpPr>
        <p:spPr/>
        <p:txBody>
          <a:bodyPr>
            <a:normAutofit fontScale="70000" lnSpcReduction="20000"/>
          </a:bodyPr>
          <a:lstStyle/>
          <a:p>
            <a:pPr marL="0" indent="0" algn="just">
              <a:buNone/>
            </a:pPr>
            <a:r>
              <a:rPr lang="de-DE" dirty="0"/>
              <a:t>Die wachsende regionale Bäckereikette </a:t>
            </a:r>
            <a:r>
              <a:rPr lang="de-DE" i="1" dirty="0" err="1"/>
              <a:t>BrotZeit</a:t>
            </a:r>
            <a:r>
              <a:rPr lang="de-DE" i="1" dirty="0"/>
              <a:t> GmbH</a:t>
            </a:r>
            <a:r>
              <a:rPr lang="de-DE" dirty="0"/>
              <a:t> steht vor der Herausforderung, ihre dezentralen Filialen effizienter zu steuern. Um fundierte Entscheidungen zu treffen, soll ein zentrales Data Warehouse (DWH) aufgebaut werden. Dieses soll Verkaufsdaten, betriebswirtschaftliche Kennzahlen und Produktionsdaten integrieren, um Gewinnmargen zu optimieren, Kosten zu senken und die Filialperformance zu bewerten.</a:t>
            </a:r>
          </a:p>
          <a:p>
            <a:pPr marL="0" indent="0" algn="just">
              <a:buNone/>
            </a:pPr>
            <a:r>
              <a:rPr lang="de-DE" dirty="0"/>
              <a:t>Für die Umsetzung sind sechs zentrale Fragestellungen zu beantworten, die sich auf Umsatz, Kosten und Produktperformance konzentrieren. Dazu gehören die Kategorisierung der Filialen nach Umsatz und Betriebskosten (z. B. Heizung, Strom, Miete), die Analyse der Personalkosten (inkl. Schichtpläne und Umsatz pro Mitarbeiter) sowie die Berechnung von Produktmargen unter Berücksichtigung von Zutatenkosten, Energieverbrauch und Herstellungsdauer. Ein weiterer Fokus liegt auf der tageszeitlichen Verkaufsverteilung pro Standort und Produkt, um Nachfragespitzen zu identifizieren und die Produktion effizienter zu steuern. Die Lösung soll dabei historische Daten (z. B. monatliche Kosten) und Echtzeit-Analysen (z. B. tägliche Verkäufe) unterstützen, um sowohl strategische als auch operative Entscheidungen zu ermöglichen.</a:t>
            </a:r>
          </a:p>
          <a:p>
            <a:pPr marL="0" indent="0" algn="just">
              <a:buNone/>
            </a:pPr>
            <a:endParaRPr lang="de-DE" dirty="0"/>
          </a:p>
          <a:p>
            <a:pPr marL="0" indent="0" algn="just">
              <a:buNone/>
            </a:pPr>
            <a:r>
              <a:rPr lang="en-GB" sz="2300" dirty="0"/>
              <a:t>Inspiration:  https://bimanu.de/blog/baeckerei-zukunft/ [24.8.2026]</a:t>
            </a:r>
            <a:endParaRPr lang="de-DE" sz="2300" dirty="0"/>
          </a:p>
          <a:p>
            <a:pPr marL="0" indent="0" algn="just">
              <a:buNone/>
            </a:pPr>
            <a:endParaRPr lang="de-DE" dirty="0"/>
          </a:p>
        </p:txBody>
      </p:sp>
    </p:spTree>
    <p:extLst>
      <p:ext uri="{BB962C8B-B14F-4D97-AF65-F5344CB8AC3E}">
        <p14:creationId xmlns:p14="http://schemas.microsoft.com/office/powerpoint/2010/main" val="2991346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344207B-F6E8-FE0D-1E2A-589531ADD153}"/>
              </a:ext>
            </a:extLst>
          </p:cNvPr>
          <p:cNvSpPr>
            <a:spLocks noGrp="1"/>
          </p:cNvSpPr>
          <p:nvPr>
            <p:ph type="title"/>
          </p:nvPr>
        </p:nvSpPr>
        <p:spPr/>
        <p:txBody>
          <a:bodyPr/>
          <a:lstStyle/>
          <a:p>
            <a:r>
              <a:rPr lang="de-DE" dirty="0"/>
              <a:t>Business-Datenbank</a:t>
            </a:r>
          </a:p>
        </p:txBody>
      </p:sp>
      <p:sp>
        <p:nvSpPr>
          <p:cNvPr id="6" name="Textplatzhalter 5">
            <a:extLst>
              <a:ext uri="{FF2B5EF4-FFF2-40B4-BE49-F238E27FC236}">
                <a16:creationId xmlns:a16="http://schemas.microsoft.com/office/drawing/2014/main" id="{956B4F7D-75CB-2BC3-1D22-870DEF942471}"/>
              </a:ext>
            </a:extLst>
          </p:cNvPr>
          <p:cNvSpPr>
            <a:spLocks noGrp="1"/>
          </p:cNvSpPr>
          <p:nvPr>
            <p:ph type="body" idx="1"/>
          </p:nvPr>
        </p:nvSpPr>
        <p:spPr/>
        <p:txBody>
          <a:bodyPr/>
          <a:lstStyle/>
          <a:p>
            <a:endParaRPr lang="de-DE"/>
          </a:p>
        </p:txBody>
      </p:sp>
    </p:spTree>
    <p:extLst>
      <p:ext uri="{BB962C8B-B14F-4D97-AF65-F5344CB8AC3E}">
        <p14:creationId xmlns:p14="http://schemas.microsoft.com/office/powerpoint/2010/main" val="165896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1DD4EA-F686-209D-5EAA-A201675BC838}"/>
              </a:ext>
            </a:extLst>
          </p:cNvPr>
          <p:cNvSpPr>
            <a:spLocks noGrp="1"/>
          </p:cNvSpPr>
          <p:nvPr>
            <p:ph type="title"/>
          </p:nvPr>
        </p:nvSpPr>
        <p:spPr/>
        <p:txBody>
          <a:bodyPr/>
          <a:lstStyle/>
          <a:p>
            <a:r>
              <a:rPr lang="de-DE" dirty="0"/>
              <a:t>ER-Modell</a:t>
            </a:r>
          </a:p>
        </p:txBody>
      </p:sp>
      <p:pic>
        <p:nvPicPr>
          <p:cNvPr id="5" name="Inhaltsplatzhalter 4">
            <a:extLst>
              <a:ext uri="{FF2B5EF4-FFF2-40B4-BE49-F238E27FC236}">
                <a16:creationId xmlns:a16="http://schemas.microsoft.com/office/drawing/2014/main" id="{5958ECF7-6681-4E8F-1DB6-09792D4C03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93971" y="28692"/>
            <a:ext cx="8698029" cy="6767165"/>
          </a:xfrm>
          <a:prstGeom prst="rect">
            <a:avLst/>
          </a:prstGeom>
        </p:spPr>
      </p:pic>
    </p:spTree>
    <p:extLst>
      <p:ext uri="{BB962C8B-B14F-4D97-AF65-F5344CB8AC3E}">
        <p14:creationId xmlns:p14="http://schemas.microsoft.com/office/powerpoint/2010/main" val="4235622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47A2DD-B513-9CAE-097B-46D56B639D2B}"/>
              </a:ext>
            </a:extLst>
          </p:cNvPr>
          <p:cNvSpPr>
            <a:spLocks noGrp="1"/>
          </p:cNvSpPr>
          <p:nvPr>
            <p:ph type="title"/>
          </p:nvPr>
        </p:nvSpPr>
        <p:spPr/>
        <p:txBody>
          <a:bodyPr/>
          <a:lstStyle/>
          <a:p>
            <a:r>
              <a:rPr lang="de-DE" dirty="0"/>
              <a:t>Relationales Schema</a:t>
            </a:r>
          </a:p>
        </p:txBody>
      </p:sp>
      <p:sp>
        <p:nvSpPr>
          <p:cNvPr id="3" name="Inhaltsplatzhalter 2">
            <a:extLst>
              <a:ext uri="{FF2B5EF4-FFF2-40B4-BE49-F238E27FC236}">
                <a16:creationId xmlns:a16="http://schemas.microsoft.com/office/drawing/2014/main" id="{637DD96A-1D7C-AE1B-9BBA-C416AC28B2AF}"/>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813430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3FD591-FEFE-C790-E324-95CC3715A429}"/>
              </a:ext>
            </a:extLst>
          </p:cNvPr>
          <p:cNvSpPr>
            <a:spLocks noGrp="1"/>
          </p:cNvSpPr>
          <p:nvPr>
            <p:ph type="title"/>
          </p:nvPr>
        </p:nvSpPr>
        <p:spPr/>
        <p:txBody>
          <a:bodyPr/>
          <a:lstStyle/>
          <a:p>
            <a:r>
              <a:rPr lang="de-DE" dirty="0"/>
              <a:t>Normalform-Überprüfung</a:t>
            </a:r>
          </a:p>
        </p:txBody>
      </p:sp>
      <p:sp>
        <p:nvSpPr>
          <p:cNvPr id="3" name="Inhaltsplatzhalter 2">
            <a:extLst>
              <a:ext uri="{FF2B5EF4-FFF2-40B4-BE49-F238E27FC236}">
                <a16:creationId xmlns:a16="http://schemas.microsoft.com/office/drawing/2014/main" id="{5967946A-B62B-A3C9-3EA7-AD8272504AA7}"/>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059657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205810-A1A2-AAB5-2E5A-B46F5FB3BEE9}"/>
              </a:ext>
            </a:extLst>
          </p:cNvPr>
          <p:cNvSpPr>
            <a:spLocks noGrp="1"/>
          </p:cNvSpPr>
          <p:nvPr>
            <p:ph type="title"/>
          </p:nvPr>
        </p:nvSpPr>
        <p:spPr/>
        <p:txBody>
          <a:bodyPr/>
          <a:lstStyle/>
          <a:p>
            <a:r>
              <a:rPr lang="de-DE" dirty="0"/>
              <a:t>Speicherplatzberechnung</a:t>
            </a:r>
          </a:p>
        </p:txBody>
      </p:sp>
      <p:sp>
        <p:nvSpPr>
          <p:cNvPr id="3" name="Inhaltsplatzhalter 2">
            <a:extLst>
              <a:ext uri="{FF2B5EF4-FFF2-40B4-BE49-F238E27FC236}">
                <a16:creationId xmlns:a16="http://schemas.microsoft.com/office/drawing/2014/main" id="{AB6C21D1-2921-2860-E730-7DB0FD765F5E}"/>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8620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8BBB4D9-AB0A-37B6-B9D7-67AEE8951BA2}"/>
              </a:ext>
            </a:extLst>
          </p:cNvPr>
          <p:cNvSpPr>
            <a:spLocks noGrp="1"/>
          </p:cNvSpPr>
          <p:nvPr>
            <p:ph type="title"/>
          </p:nvPr>
        </p:nvSpPr>
        <p:spPr/>
        <p:txBody>
          <a:bodyPr/>
          <a:lstStyle/>
          <a:p>
            <a:r>
              <a:rPr lang="de-DE" dirty="0"/>
              <a:t>Data Warehouse</a:t>
            </a:r>
          </a:p>
        </p:txBody>
      </p:sp>
      <p:sp>
        <p:nvSpPr>
          <p:cNvPr id="5" name="Textplatzhalter 4">
            <a:extLst>
              <a:ext uri="{FF2B5EF4-FFF2-40B4-BE49-F238E27FC236}">
                <a16:creationId xmlns:a16="http://schemas.microsoft.com/office/drawing/2014/main" id="{DDD8E57D-6B19-DF39-2489-BEAA298E6F36}"/>
              </a:ext>
            </a:extLst>
          </p:cNvPr>
          <p:cNvSpPr>
            <a:spLocks noGrp="1"/>
          </p:cNvSpPr>
          <p:nvPr>
            <p:ph type="body" idx="1"/>
          </p:nvPr>
        </p:nvSpPr>
        <p:spPr/>
        <p:txBody>
          <a:bodyPr/>
          <a:lstStyle/>
          <a:p>
            <a:endParaRPr lang="de-DE"/>
          </a:p>
        </p:txBody>
      </p:sp>
    </p:spTree>
    <p:extLst>
      <p:ext uri="{BB962C8B-B14F-4D97-AF65-F5344CB8AC3E}">
        <p14:creationId xmlns:p14="http://schemas.microsoft.com/office/powerpoint/2010/main" val="2824883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7FBC5EB2-8E38-A6FF-3747-7C0FBA075449}"/>
              </a:ext>
            </a:extLst>
          </p:cNvPr>
          <p:cNvSpPr>
            <a:spLocks noGrp="1"/>
          </p:cNvSpPr>
          <p:nvPr>
            <p:ph type="title"/>
          </p:nvPr>
        </p:nvSpPr>
        <p:spPr/>
        <p:txBody>
          <a:bodyPr/>
          <a:lstStyle/>
          <a:p>
            <a:r>
              <a:rPr lang="de-DE" dirty="0"/>
              <a:t>DWH-Fragen</a:t>
            </a:r>
          </a:p>
        </p:txBody>
      </p:sp>
      <p:sp>
        <p:nvSpPr>
          <p:cNvPr id="5" name="Inhaltsplatzhalter 4">
            <a:extLst>
              <a:ext uri="{FF2B5EF4-FFF2-40B4-BE49-F238E27FC236}">
                <a16:creationId xmlns:a16="http://schemas.microsoft.com/office/drawing/2014/main" id="{CE1C7ED1-A131-55DE-7840-35E53E3E2D37}"/>
              </a:ext>
            </a:extLst>
          </p:cNvPr>
          <p:cNvSpPr>
            <a:spLocks noGrp="1"/>
          </p:cNvSpPr>
          <p:nvPr>
            <p:ph idx="1"/>
          </p:nvPr>
        </p:nvSpPr>
        <p:spPr/>
        <p:txBody>
          <a:bodyPr>
            <a:normAutofit fontScale="92500" lnSpcReduction="10000"/>
          </a:bodyPr>
          <a:lstStyle/>
          <a:p>
            <a:pPr marL="514350" lvl="0" indent="-514350">
              <a:buFont typeface="+mj-lt"/>
              <a:buAutoNum type="arabicPeriod"/>
            </a:pPr>
            <a:r>
              <a:rPr lang="de-DE" dirty="0"/>
              <a:t>Welche Filialen haben den größten/kleinsten Umsatz? </a:t>
            </a:r>
            <a:r>
              <a:rPr lang="de-DE" i="1" dirty="0"/>
              <a:t>(Verkäufe/Stunde, Kategorisierung der Filialen)</a:t>
            </a:r>
            <a:endParaRPr lang="de-DE" dirty="0"/>
          </a:p>
          <a:p>
            <a:pPr marL="514350" lvl="0" indent="-514350">
              <a:buFont typeface="+mj-lt"/>
              <a:buAutoNum type="arabicPeriod"/>
            </a:pPr>
            <a:r>
              <a:rPr lang="de-DE" dirty="0"/>
              <a:t>Welche Produkte haben die größte/kleinste Marge? </a:t>
            </a:r>
            <a:r>
              <a:rPr lang="de-DE" i="1" dirty="0"/>
              <a:t>(Produktpreis, Kosten der Zutaten, Energieverbrauch, Herstellungsdauer)</a:t>
            </a:r>
            <a:endParaRPr lang="de-DE" dirty="0"/>
          </a:p>
          <a:p>
            <a:pPr marL="514350" lvl="0" indent="-514350">
              <a:buFont typeface="+mj-lt"/>
              <a:buAutoNum type="arabicPeriod"/>
            </a:pPr>
            <a:r>
              <a:rPr lang="de-DE" dirty="0"/>
              <a:t>Welche Produkte haben in der Herstellung den größten/kleinsten Energieverbrauch? </a:t>
            </a:r>
            <a:r>
              <a:rPr lang="de-DE" i="1" dirty="0"/>
              <a:t>(Backdauer, Kühlung der Zutaten)</a:t>
            </a:r>
            <a:endParaRPr lang="de-DE" dirty="0"/>
          </a:p>
          <a:p>
            <a:pPr marL="514350" lvl="0" indent="-514350">
              <a:buFont typeface="+mj-lt"/>
              <a:buAutoNum type="arabicPeriod"/>
            </a:pPr>
            <a:r>
              <a:rPr lang="de-DE" dirty="0"/>
              <a:t>Zu welchen Tageszeiten wird welche Produktkategorie an welchem Standort am meisten gekauft? (Verkäufe)</a:t>
            </a:r>
          </a:p>
          <a:p>
            <a:pPr marL="514350" lvl="0" indent="-514350">
              <a:buFont typeface="+mj-lt"/>
              <a:buAutoNum type="arabicPeriod"/>
            </a:pPr>
            <a:r>
              <a:rPr lang="de-DE" dirty="0"/>
              <a:t>Welche Produkte werden am meisten/am wenigsten verkauft?</a:t>
            </a:r>
          </a:p>
          <a:p>
            <a:pPr marL="514350" indent="-514350">
              <a:buFont typeface="+mj-lt"/>
              <a:buAutoNum type="arabicPeriod"/>
            </a:pPr>
            <a:r>
              <a:rPr lang="de-DE" dirty="0"/>
              <a:t>Welcher Verkäufer hat den größten durchschnittlichen Umsatz pro Verkauf?</a:t>
            </a:r>
          </a:p>
        </p:txBody>
      </p:sp>
    </p:spTree>
    <p:extLst>
      <p:ext uri="{BB962C8B-B14F-4D97-AF65-F5344CB8AC3E}">
        <p14:creationId xmlns:p14="http://schemas.microsoft.com/office/powerpoint/2010/main" val="237497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5C50AD-AB12-3666-A634-324EE9A12F09}"/>
              </a:ext>
            </a:extLst>
          </p:cNvPr>
          <p:cNvSpPr>
            <a:spLocks noGrp="1"/>
          </p:cNvSpPr>
          <p:nvPr>
            <p:ph type="title"/>
          </p:nvPr>
        </p:nvSpPr>
        <p:spPr/>
        <p:txBody>
          <a:bodyPr/>
          <a:lstStyle/>
          <a:p>
            <a:r>
              <a:rPr lang="de-DE" dirty="0" err="1"/>
              <a:t>mER</a:t>
            </a:r>
            <a:endParaRPr lang="de-DE" dirty="0"/>
          </a:p>
        </p:txBody>
      </p:sp>
      <p:pic>
        <p:nvPicPr>
          <p:cNvPr id="5" name="Inhaltsplatzhalter 4">
            <a:extLst>
              <a:ext uri="{FF2B5EF4-FFF2-40B4-BE49-F238E27FC236}">
                <a16:creationId xmlns:a16="http://schemas.microsoft.com/office/drawing/2014/main" id="{C599200D-D61C-1F8B-D3A1-5E89016541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7794" y="365125"/>
            <a:ext cx="8736006" cy="5942782"/>
          </a:xfrm>
          <a:prstGeom prst="rect">
            <a:avLst/>
          </a:prstGeom>
        </p:spPr>
      </p:pic>
    </p:spTree>
    <p:extLst>
      <p:ext uri="{BB962C8B-B14F-4D97-AF65-F5344CB8AC3E}">
        <p14:creationId xmlns:p14="http://schemas.microsoft.com/office/powerpoint/2010/main" val="427920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04CDF3-4527-70B2-FABB-909DC6BA3CF1}"/>
              </a:ext>
            </a:extLst>
          </p:cNvPr>
          <p:cNvSpPr>
            <a:spLocks noGrp="1"/>
          </p:cNvSpPr>
          <p:nvPr>
            <p:ph type="title"/>
          </p:nvPr>
        </p:nvSpPr>
        <p:spPr/>
        <p:txBody>
          <a:bodyPr/>
          <a:lstStyle/>
          <a:p>
            <a:r>
              <a:rPr lang="de-DE" dirty="0"/>
              <a:t>Logisches Modell</a:t>
            </a:r>
            <a:br>
              <a:rPr lang="de-DE" dirty="0"/>
            </a:br>
            <a:r>
              <a:rPr lang="de-DE" dirty="0"/>
              <a:t>Galaxy Schema</a:t>
            </a:r>
          </a:p>
        </p:txBody>
      </p:sp>
      <p:pic>
        <p:nvPicPr>
          <p:cNvPr id="5" name="Inhaltsplatzhalter 4">
            <a:extLst>
              <a:ext uri="{FF2B5EF4-FFF2-40B4-BE49-F238E27FC236}">
                <a16:creationId xmlns:a16="http://schemas.microsoft.com/office/drawing/2014/main" id="{525D996C-32F6-0F32-53F9-94DC195EDD2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5155932" y="0"/>
            <a:ext cx="5941996" cy="6727898"/>
          </a:xfrm>
          <a:prstGeom prst="rect">
            <a:avLst/>
          </a:prstGeom>
        </p:spPr>
      </p:pic>
    </p:spTree>
    <p:extLst>
      <p:ext uri="{BB962C8B-B14F-4D97-AF65-F5344CB8AC3E}">
        <p14:creationId xmlns:p14="http://schemas.microsoft.com/office/powerpoint/2010/main" val="763179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518B4-6F6D-629A-78BB-C72612DF9CC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1B224B-06D3-B13F-1F18-6E1D0094E5FF}"/>
              </a:ext>
            </a:extLst>
          </p:cNvPr>
          <p:cNvSpPr>
            <a:spLocks noGrp="1"/>
          </p:cNvSpPr>
          <p:nvPr>
            <p:ph type="title"/>
          </p:nvPr>
        </p:nvSpPr>
        <p:spPr/>
        <p:txBody>
          <a:bodyPr/>
          <a:lstStyle/>
          <a:p>
            <a:r>
              <a:rPr lang="de-DE" dirty="0"/>
              <a:t>Logisches Modell</a:t>
            </a:r>
            <a:br>
              <a:rPr lang="de-DE" dirty="0"/>
            </a:br>
            <a:r>
              <a:rPr lang="de-DE" dirty="0"/>
              <a:t>Galaxy Schema</a:t>
            </a:r>
          </a:p>
        </p:txBody>
      </p:sp>
      <p:sp>
        <p:nvSpPr>
          <p:cNvPr id="3" name="Textfeld 2">
            <a:extLst>
              <a:ext uri="{FF2B5EF4-FFF2-40B4-BE49-F238E27FC236}">
                <a16:creationId xmlns:a16="http://schemas.microsoft.com/office/drawing/2014/main" id="{91E45CDD-F47D-7F96-C9A6-A43E20426182}"/>
              </a:ext>
            </a:extLst>
          </p:cNvPr>
          <p:cNvSpPr txBox="1"/>
          <p:nvPr/>
        </p:nvSpPr>
        <p:spPr>
          <a:xfrm>
            <a:off x="353969" y="1898140"/>
            <a:ext cx="1685077" cy="523220"/>
          </a:xfrm>
          <a:prstGeom prst="rect">
            <a:avLst/>
          </a:prstGeom>
          <a:noFill/>
        </p:spPr>
        <p:txBody>
          <a:bodyPr wrap="none" rtlCol="0">
            <a:spAutoFit/>
          </a:bodyPr>
          <a:lstStyle/>
          <a:p>
            <a:r>
              <a:rPr lang="de-DE" sz="2800" b="1" dirty="0"/>
              <a:t>Mit SCDs</a:t>
            </a:r>
          </a:p>
        </p:txBody>
      </p:sp>
      <p:pic>
        <p:nvPicPr>
          <p:cNvPr id="6" name="Grafik 5">
            <a:extLst>
              <a:ext uri="{FF2B5EF4-FFF2-40B4-BE49-F238E27FC236}">
                <a16:creationId xmlns:a16="http://schemas.microsoft.com/office/drawing/2014/main" id="{0F138F20-0FD1-EAF0-ECB1-C944E3841B3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41957" y="0"/>
            <a:ext cx="4623435" cy="6858000"/>
          </a:xfrm>
          <a:prstGeom prst="rect">
            <a:avLst/>
          </a:prstGeom>
        </p:spPr>
      </p:pic>
      <p:sp>
        <p:nvSpPr>
          <p:cNvPr id="9" name="Textfeld 8">
            <a:extLst>
              <a:ext uri="{FF2B5EF4-FFF2-40B4-BE49-F238E27FC236}">
                <a16:creationId xmlns:a16="http://schemas.microsoft.com/office/drawing/2014/main" id="{7F4D9F21-EE0C-77EE-09C3-536CCB745FD0}"/>
              </a:ext>
            </a:extLst>
          </p:cNvPr>
          <p:cNvSpPr txBox="1"/>
          <p:nvPr/>
        </p:nvSpPr>
        <p:spPr>
          <a:xfrm>
            <a:off x="239669" y="2960009"/>
            <a:ext cx="3840026" cy="523220"/>
          </a:xfrm>
          <a:prstGeom prst="rect">
            <a:avLst/>
          </a:prstGeom>
          <a:noFill/>
        </p:spPr>
        <p:txBody>
          <a:bodyPr wrap="none" rtlCol="0">
            <a:spAutoFit/>
          </a:bodyPr>
          <a:lstStyle/>
          <a:p>
            <a:r>
              <a:rPr lang="de-DE" sz="1400" dirty="0"/>
              <a:t>SCD0: Attribute werden automatisch generiert, </a:t>
            </a:r>
          </a:p>
          <a:p>
            <a:r>
              <a:rPr lang="de-DE" sz="1400" dirty="0"/>
              <a:t>daher keine Änderung notwendig</a:t>
            </a:r>
          </a:p>
        </p:txBody>
      </p:sp>
      <p:sp>
        <p:nvSpPr>
          <p:cNvPr id="5" name="Textfeld 4">
            <a:extLst>
              <a:ext uri="{FF2B5EF4-FFF2-40B4-BE49-F238E27FC236}">
                <a16:creationId xmlns:a16="http://schemas.microsoft.com/office/drawing/2014/main" id="{98AB6B8C-56F1-28E8-201C-1EA535B163C3}"/>
              </a:ext>
            </a:extLst>
          </p:cNvPr>
          <p:cNvSpPr txBox="1"/>
          <p:nvPr/>
        </p:nvSpPr>
        <p:spPr>
          <a:xfrm>
            <a:off x="8997739" y="658574"/>
            <a:ext cx="2900265" cy="738664"/>
          </a:xfrm>
          <a:prstGeom prst="rect">
            <a:avLst/>
          </a:prstGeom>
          <a:noFill/>
        </p:spPr>
        <p:txBody>
          <a:bodyPr wrap="square" rtlCol="0">
            <a:spAutoFit/>
          </a:bodyPr>
          <a:lstStyle/>
          <a:p>
            <a:r>
              <a:rPr lang="de-DE" sz="1400" dirty="0"/>
              <a:t>SCD1: Es können Namensänderungen auftreten,</a:t>
            </a:r>
          </a:p>
          <a:p>
            <a:r>
              <a:rPr lang="de-DE" sz="1400" dirty="0"/>
              <a:t>Historisierung aber nicht relevant</a:t>
            </a:r>
          </a:p>
        </p:txBody>
      </p:sp>
      <p:sp>
        <p:nvSpPr>
          <p:cNvPr id="8" name="Textfeld 7">
            <a:extLst>
              <a:ext uri="{FF2B5EF4-FFF2-40B4-BE49-F238E27FC236}">
                <a16:creationId xmlns:a16="http://schemas.microsoft.com/office/drawing/2014/main" id="{BE82647E-DA08-904C-9686-78B17E1E2BF3}"/>
              </a:ext>
            </a:extLst>
          </p:cNvPr>
          <p:cNvSpPr txBox="1"/>
          <p:nvPr/>
        </p:nvSpPr>
        <p:spPr>
          <a:xfrm>
            <a:off x="4820813" y="2742565"/>
            <a:ext cx="2000611" cy="1384995"/>
          </a:xfrm>
          <a:prstGeom prst="rect">
            <a:avLst/>
          </a:prstGeom>
          <a:noFill/>
        </p:spPr>
        <p:txBody>
          <a:bodyPr wrap="square" rtlCol="0">
            <a:spAutoFit/>
          </a:bodyPr>
          <a:lstStyle/>
          <a:p>
            <a:r>
              <a:rPr lang="de-DE" sz="1400" dirty="0"/>
              <a:t>SCD3: Der Filialname kann sich ändern, eher seltener Vorgang,</a:t>
            </a:r>
          </a:p>
          <a:p>
            <a:r>
              <a:rPr lang="de-DE" sz="1400" dirty="0"/>
              <a:t>Informationen über alten Namen trotzdem wichtig</a:t>
            </a:r>
          </a:p>
        </p:txBody>
      </p:sp>
      <p:sp>
        <p:nvSpPr>
          <p:cNvPr id="11" name="Textfeld 10">
            <a:extLst>
              <a:ext uri="{FF2B5EF4-FFF2-40B4-BE49-F238E27FC236}">
                <a16:creationId xmlns:a16="http://schemas.microsoft.com/office/drawing/2014/main" id="{97E9B84A-AE4B-9768-2853-76649DB47F25}"/>
              </a:ext>
            </a:extLst>
          </p:cNvPr>
          <p:cNvSpPr txBox="1"/>
          <p:nvPr/>
        </p:nvSpPr>
        <p:spPr>
          <a:xfrm>
            <a:off x="5051249" y="5726779"/>
            <a:ext cx="3068623" cy="954107"/>
          </a:xfrm>
          <a:prstGeom prst="rect">
            <a:avLst/>
          </a:prstGeom>
          <a:noFill/>
        </p:spPr>
        <p:txBody>
          <a:bodyPr wrap="square" rtlCol="0">
            <a:spAutoFit/>
          </a:bodyPr>
          <a:lstStyle/>
          <a:p>
            <a:r>
              <a:rPr lang="de-DE" sz="1400" dirty="0"/>
              <a:t>SCD4: Produktattribute können sich aufgrund von Inflation etc. oft ändern,</a:t>
            </a:r>
          </a:p>
          <a:p>
            <a:r>
              <a:rPr lang="de-DE" sz="1400" dirty="0"/>
              <a:t>Historisierung ist für die Analyse sehr wichtig</a:t>
            </a:r>
          </a:p>
        </p:txBody>
      </p:sp>
    </p:spTree>
    <p:extLst>
      <p:ext uri="{BB962C8B-B14F-4D97-AF65-F5344CB8AC3E}">
        <p14:creationId xmlns:p14="http://schemas.microsoft.com/office/powerpoint/2010/main" val="1190778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C2311D-E75B-2973-3E6F-0EB0FACB9F26}"/>
              </a:ext>
            </a:extLst>
          </p:cNvPr>
          <p:cNvSpPr>
            <a:spLocks noGrp="1"/>
          </p:cNvSpPr>
          <p:nvPr>
            <p:ph type="title"/>
          </p:nvPr>
        </p:nvSpPr>
        <p:spPr/>
        <p:txBody>
          <a:bodyPr/>
          <a:lstStyle/>
          <a:p>
            <a:r>
              <a:rPr lang="de-DE" dirty="0"/>
              <a:t>ETL – Mapping Tabelle</a:t>
            </a:r>
          </a:p>
        </p:txBody>
      </p:sp>
      <p:sp>
        <p:nvSpPr>
          <p:cNvPr id="3" name="Inhaltsplatzhalter 2">
            <a:extLst>
              <a:ext uri="{FF2B5EF4-FFF2-40B4-BE49-F238E27FC236}">
                <a16:creationId xmlns:a16="http://schemas.microsoft.com/office/drawing/2014/main" id="{6C270558-67B5-2E63-161E-DB5D3489FD15}"/>
              </a:ext>
            </a:extLst>
          </p:cNvPr>
          <p:cNvSpPr>
            <a:spLocks noGrp="1"/>
          </p:cNvSpPr>
          <p:nvPr>
            <p:ph idx="1"/>
          </p:nvPr>
        </p:nvSpPr>
        <p:spPr/>
        <p:txBody>
          <a:bodyPr/>
          <a:lstStyle/>
          <a:p>
            <a:r>
              <a:rPr lang="de-DE" dirty="0"/>
              <a:t>Wesentliche Erkenntnisse:</a:t>
            </a:r>
          </a:p>
        </p:txBody>
      </p:sp>
    </p:spTree>
    <p:extLst>
      <p:ext uri="{BB962C8B-B14F-4D97-AF65-F5344CB8AC3E}">
        <p14:creationId xmlns:p14="http://schemas.microsoft.com/office/powerpoint/2010/main" val="417860335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402</Words>
  <Application>Microsoft Office PowerPoint</Application>
  <PresentationFormat>Breitbild</PresentationFormat>
  <Paragraphs>38</Paragraphs>
  <Slides>13</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13</vt:i4>
      </vt:variant>
    </vt:vector>
  </HeadingPairs>
  <TitlesOfParts>
    <vt:vector size="17" baseType="lpstr">
      <vt:lpstr>Aptos</vt:lpstr>
      <vt:lpstr>Aptos Display</vt:lpstr>
      <vt:lpstr>Arial</vt:lpstr>
      <vt:lpstr>Office</vt:lpstr>
      <vt:lpstr>Projekt Brotzeit</vt:lpstr>
      <vt:lpstr>Projektbeschreibung</vt:lpstr>
      <vt:lpstr>Business-Datenbank</vt:lpstr>
      <vt:lpstr>ER-Modell</vt:lpstr>
      <vt:lpstr>Relationales Schema</vt:lpstr>
      <vt:lpstr>Normalform-Überprüfung</vt:lpstr>
      <vt:lpstr>Speicherplatzberechnung</vt:lpstr>
      <vt:lpstr>Data Warehouse</vt:lpstr>
      <vt:lpstr>DWH-Fragen</vt:lpstr>
      <vt:lpstr>mER</vt:lpstr>
      <vt:lpstr>Logisches Modell Galaxy Schema</vt:lpstr>
      <vt:lpstr>Logisches Modell Galaxy Schema</vt:lpstr>
      <vt:lpstr>ETL – Mapping Tabelle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Tab Poth</dc:creator>
  <cp:lastModifiedBy>Tab Poth</cp:lastModifiedBy>
  <cp:revision>2</cp:revision>
  <dcterms:created xsi:type="dcterms:W3CDTF">2026-08-26T09:06:01Z</dcterms:created>
  <dcterms:modified xsi:type="dcterms:W3CDTF">2026-08-26T10:18:39Z</dcterms:modified>
</cp:coreProperties>
</file>