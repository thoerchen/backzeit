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71" r:id="rId4"/>
    <p:sldId id="263" r:id="rId5"/>
    <p:sldId id="258" r:id="rId6"/>
    <p:sldId id="269" r:id="rId7"/>
    <p:sldId id="262" r:id="rId8"/>
    <p:sldId id="264" r:id="rId9"/>
    <p:sldId id="265" r:id="rId10"/>
    <p:sldId id="266" r:id="rId11"/>
    <p:sldId id="267" r:id="rId12"/>
    <p:sldId id="272" r:id="rId13"/>
    <p:sldId id="259" r:id="rId14"/>
    <p:sldId id="273" r:id="rId1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44AF23-4141-471D-8F47-D0D465B8A2CC}" type="datetimeFigureOut">
              <a:rPr lang="de-DE" smtClean="0"/>
              <a:t>28.08.2026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573A14-2FD9-4F88-9CDD-7A01E9A13A5F}" type="slidenum">
              <a:rPr lang="de-DE" smtClean="0"/>
              <a:t>‹Nr.›</a:t>
            </a:fld>
            <a:endParaRPr lang="de-DE"/>
          </a:p>
        </p:txBody>
      </p:sp>
    </p:spTree>
    <p:extLst>
      <p:ext uri="{BB962C8B-B14F-4D97-AF65-F5344CB8AC3E}">
        <p14:creationId xmlns:p14="http://schemas.microsoft.com/office/powerpoint/2010/main" val="2954507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5</a:t>
            </a:fld>
            <a:endParaRPr lang="de-DE"/>
          </a:p>
        </p:txBody>
      </p:sp>
    </p:spTree>
    <p:extLst>
      <p:ext uri="{BB962C8B-B14F-4D97-AF65-F5344CB8AC3E}">
        <p14:creationId xmlns:p14="http://schemas.microsoft.com/office/powerpoint/2010/main" val="19560948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E2517-0AA0-56A9-E488-C6698DD8F0E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53B7ED6-C3C9-B4CF-B4AC-38CC7E347F65}"/>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A2D01A4-785D-5A7F-D2D7-BAFA05723B2D}"/>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14BFE99A-A6B2-B4AD-EBE7-A09FAA5D9F9E}"/>
              </a:ext>
            </a:extLst>
          </p:cNvPr>
          <p:cNvSpPr>
            <a:spLocks noGrp="1"/>
          </p:cNvSpPr>
          <p:nvPr>
            <p:ph type="sldNum" sz="quarter" idx="5"/>
          </p:nvPr>
        </p:nvSpPr>
        <p:spPr/>
        <p:txBody>
          <a:bodyPr/>
          <a:lstStyle/>
          <a:p>
            <a:fld id="{F9573A14-2FD9-4F88-9CDD-7A01E9A13A5F}" type="slidenum">
              <a:rPr lang="de-DE" smtClean="0"/>
              <a:t>6</a:t>
            </a:fld>
            <a:endParaRPr lang="de-DE"/>
          </a:p>
        </p:txBody>
      </p:sp>
    </p:spTree>
    <p:extLst>
      <p:ext uri="{BB962C8B-B14F-4D97-AF65-F5344CB8AC3E}">
        <p14:creationId xmlns:p14="http://schemas.microsoft.com/office/powerpoint/2010/main" val="8852576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9</a:t>
            </a:fld>
            <a:endParaRPr lang="de-DE"/>
          </a:p>
        </p:txBody>
      </p:sp>
    </p:spTree>
    <p:extLst>
      <p:ext uri="{BB962C8B-B14F-4D97-AF65-F5344CB8AC3E}">
        <p14:creationId xmlns:p14="http://schemas.microsoft.com/office/powerpoint/2010/main" val="27716677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10</a:t>
            </a:fld>
            <a:endParaRPr lang="de-DE"/>
          </a:p>
        </p:txBody>
      </p:sp>
    </p:spTree>
    <p:extLst>
      <p:ext uri="{BB962C8B-B14F-4D97-AF65-F5344CB8AC3E}">
        <p14:creationId xmlns:p14="http://schemas.microsoft.com/office/powerpoint/2010/main" val="37509793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11</a:t>
            </a:fld>
            <a:endParaRPr lang="de-DE"/>
          </a:p>
        </p:txBody>
      </p:sp>
    </p:spTree>
    <p:extLst>
      <p:ext uri="{BB962C8B-B14F-4D97-AF65-F5344CB8AC3E}">
        <p14:creationId xmlns:p14="http://schemas.microsoft.com/office/powerpoint/2010/main" val="3310110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4F54313-B310-180F-AD7D-EF3221BBB17E}"/>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566BA211-6115-32E7-6BE1-A46E22AD8A5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A75AE83C-9219-722C-B617-B85C1375097C}"/>
              </a:ext>
            </a:extLst>
          </p:cNvPr>
          <p:cNvSpPr>
            <a:spLocks noGrp="1"/>
          </p:cNvSpPr>
          <p:nvPr>
            <p:ph type="dt" sz="half" idx="10"/>
          </p:nvPr>
        </p:nvSpPr>
        <p:spPr/>
        <p:txBody>
          <a:bodyPr/>
          <a:lstStyle/>
          <a:p>
            <a:fld id="{C1A3F57E-A23B-4EC8-88D9-9CE4544A9387}" type="datetime1">
              <a:rPr lang="de-DE" smtClean="0"/>
              <a:t>28.08.2026</a:t>
            </a:fld>
            <a:endParaRPr lang="de-DE"/>
          </a:p>
        </p:txBody>
      </p:sp>
      <p:sp>
        <p:nvSpPr>
          <p:cNvPr id="5" name="Fußzeilenplatzhalter 4">
            <a:extLst>
              <a:ext uri="{FF2B5EF4-FFF2-40B4-BE49-F238E27FC236}">
                <a16:creationId xmlns:a16="http://schemas.microsoft.com/office/drawing/2014/main" id="{F8FF1547-EC38-C2BF-E40C-C6ED63ECBA7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294177D-F4CC-C043-2F40-4B6F0B8FB92D}"/>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4355893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4E9949-E0DF-FA07-BC5A-BC78588405F8}"/>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730022D5-223A-068B-7F15-9132408A2857}"/>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F41BA55-15B7-035A-2EB1-DBD5F5E57053}"/>
              </a:ext>
            </a:extLst>
          </p:cNvPr>
          <p:cNvSpPr>
            <a:spLocks noGrp="1"/>
          </p:cNvSpPr>
          <p:nvPr>
            <p:ph type="dt" sz="half" idx="10"/>
          </p:nvPr>
        </p:nvSpPr>
        <p:spPr/>
        <p:txBody>
          <a:bodyPr/>
          <a:lstStyle/>
          <a:p>
            <a:fld id="{B0CEBB07-AD68-489C-B529-2D0B1E705053}" type="datetime1">
              <a:rPr lang="de-DE" smtClean="0"/>
              <a:t>28.08.2026</a:t>
            </a:fld>
            <a:endParaRPr lang="de-DE"/>
          </a:p>
        </p:txBody>
      </p:sp>
      <p:sp>
        <p:nvSpPr>
          <p:cNvPr id="5" name="Fußzeilenplatzhalter 4">
            <a:extLst>
              <a:ext uri="{FF2B5EF4-FFF2-40B4-BE49-F238E27FC236}">
                <a16:creationId xmlns:a16="http://schemas.microsoft.com/office/drawing/2014/main" id="{420399FA-4EB0-5B30-F85E-547CCEE86112}"/>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C46A34A7-6519-CB57-C07D-91AE23A6519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24131844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C72B01-50B3-4F92-987D-F770D4F88DFE}"/>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1C9EFA75-9A52-FC9F-3570-FC26EDAD586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6F84AAB6-C6F1-4C4A-1E36-332196D225B4}"/>
              </a:ext>
            </a:extLst>
          </p:cNvPr>
          <p:cNvSpPr>
            <a:spLocks noGrp="1"/>
          </p:cNvSpPr>
          <p:nvPr>
            <p:ph type="dt" sz="half" idx="10"/>
          </p:nvPr>
        </p:nvSpPr>
        <p:spPr/>
        <p:txBody>
          <a:bodyPr/>
          <a:lstStyle/>
          <a:p>
            <a:fld id="{7DB52F10-6C69-4AAE-81EC-2781BEEF3A65}" type="datetime1">
              <a:rPr lang="de-DE" smtClean="0"/>
              <a:t>28.08.2026</a:t>
            </a:fld>
            <a:endParaRPr lang="de-DE"/>
          </a:p>
        </p:txBody>
      </p:sp>
      <p:sp>
        <p:nvSpPr>
          <p:cNvPr id="5" name="Fußzeilenplatzhalter 4">
            <a:extLst>
              <a:ext uri="{FF2B5EF4-FFF2-40B4-BE49-F238E27FC236}">
                <a16:creationId xmlns:a16="http://schemas.microsoft.com/office/drawing/2014/main" id="{8F247D4B-4CC9-E997-6CC5-9134E24C633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80B10705-7FA4-AB2C-FF30-43687B7F4301}"/>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3775481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9A5F1A-5BD1-8EC5-A086-4F8F711A97A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CA033E0-8B92-09F8-E12B-F4AE66CFC951}"/>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A5EE4AB7-CC50-130C-B299-A1925008D5A6}"/>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AEA5E4B4-B77C-58F4-FD85-BC452D65A8D2}"/>
              </a:ext>
            </a:extLst>
          </p:cNvPr>
          <p:cNvSpPr>
            <a:spLocks noGrp="1"/>
          </p:cNvSpPr>
          <p:nvPr>
            <p:ph type="dt" sz="half" idx="10"/>
          </p:nvPr>
        </p:nvSpPr>
        <p:spPr/>
        <p:txBody>
          <a:bodyPr/>
          <a:lstStyle/>
          <a:p>
            <a:fld id="{6E66611E-C695-4752-B4BD-9595157E0337}" type="datetime1">
              <a:rPr lang="de-DE" smtClean="0"/>
              <a:t>28.08.2026</a:t>
            </a:fld>
            <a:endParaRPr lang="de-DE"/>
          </a:p>
        </p:txBody>
      </p:sp>
      <p:sp>
        <p:nvSpPr>
          <p:cNvPr id="6" name="Fußzeilenplatzhalter 5">
            <a:extLst>
              <a:ext uri="{FF2B5EF4-FFF2-40B4-BE49-F238E27FC236}">
                <a16:creationId xmlns:a16="http://schemas.microsoft.com/office/drawing/2014/main" id="{53E760DB-B8D0-867A-2B76-F9B7EF2279CB}"/>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2654FD18-7A3D-A0E2-AAD2-EEAC418AC61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7053619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5C785B8-86BF-8038-1E46-31EE0A6CA8C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4A0CCB10-29F8-012B-09C6-18EB615ECCF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DC8FAFF0-FCEC-E301-29B0-F93E31CE2C09}"/>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E1C82E3B-52F3-0141-FE28-C81D6BC4CB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05A56D52-ECB0-9960-C1F0-74DC7EA14284}"/>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831D4DCE-BD94-F232-5972-41222B277FC6}"/>
              </a:ext>
            </a:extLst>
          </p:cNvPr>
          <p:cNvSpPr>
            <a:spLocks noGrp="1"/>
          </p:cNvSpPr>
          <p:nvPr>
            <p:ph type="dt" sz="half" idx="10"/>
          </p:nvPr>
        </p:nvSpPr>
        <p:spPr/>
        <p:txBody>
          <a:bodyPr/>
          <a:lstStyle/>
          <a:p>
            <a:fld id="{987C429F-FC24-4716-974B-CE9C0EAFA166}" type="datetime1">
              <a:rPr lang="de-DE" smtClean="0"/>
              <a:t>28.08.2026</a:t>
            </a:fld>
            <a:endParaRPr lang="de-DE"/>
          </a:p>
        </p:txBody>
      </p:sp>
      <p:sp>
        <p:nvSpPr>
          <p:cNvPr id="8" name="Fußzeilenplatzhalter 7">
            <a:extLst>
              <a:ext uri="{FF2B5EF4-FFF2-40B4-BE49-F238E27FC236}">
                <a16:creationId xmlns:a16="http://schemas.microsoft.com/office/drawing/2014/main" id="{E41E8BA7-0B38-80DB-A849-192B87FD7854}"/>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E244DC47-C49E-9A61-940C-663E35B4B749}"/>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4462371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EE47E-20D7-DB1A-8591-02379313BB35}"/>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B6BB0584-EE46-285C-FFBE-398C8F4CF6FD}"/>
              </a:ext>
            </a:extLst>
          </p:cNvPr>
          <p:cNvSpPr>
            <a:spLocks noGrp="1"/>
          </p:cNvSpPr>
          <p:nvPr>
            <p:ph type="dt" sz="half" idx="10"/>
          </p:nvPr>
        </p:nvSpPr>
        <p:spPr/>
        <p:txBody>
          <a:bodyPr/>
          <a:lstStyle/>
          <a:p>
            <a:fld id="{40B40AFE-9AA2-4476-89EB-CDA779656E53}" type="datetime1">
              <a:rPr lang="de-DE" smtClean="0"/>
              <a:t>28.08.2026</a:t>
            </a:fld>
            <a:endParaRPr lang="de-DE"/>
          </a:p>
        </p:txBody>
      </p:sp>
      <p:sp>
        <p:nvSpPr>
          <p:cNvPr id="4" name="Fußzeilenplatzhalter 3">
            <a:extLst>
              <a:ext uri="{FF2B5EF4-FFF2-40B4-BE49-F238E27FC236}">
                <a16:creationId xmlns:a16="http://schemas.microsoft.com/office/drawing/2014/main" id="{6026C591-4C19-CF3D-1636-A6EF0EDD27E8}"/>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57AED797-2B5A-75AA-2363-4C1D02E0391A}"/>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054122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A84A61D-DB26-CA34-B5D7-6FE991B9D47B}"/>
              </a:ext>
            </a:extLst>
          </p:cNvPr>
          <p:cNvSpPr>
            <a:spLocks noGrp="1"/>
          </p:cNvSpPr>
          <p:nvPr>
            <p:ph type="dt" sz="half" idx="10"/>
          </p:nvPr>
        </p:nvSpPr>
        <p:spPr/>
        <p:txBody>
          <a:bodyPr/>
          <a:lstStyle/>
          <a:p>
            <a:fld id="{47EA7A66-BBC4-441E-AEBF-96947E37D3D7}" type="datetime1">
              <a:rPr lang="de-DE" smtClean="0"/>
              <a:t>28.08.2026</a:t>
            </a:fld>
            <a:endParaRPr lang="de-DE"/>
          </a:p>
        </p:txBody>
      </p:sp>
      <p:sp>
        <p:nvSpPr>
          <p:cNvPr id="3" name="Fußzeilenplatzhalter 2">
            <a:extLst>
              <a:ext uri="{FF2B5EF4-FFF2-40B4-BE49-F238E27FC236}">
                <a16:creationId xmlns:a16="http://schemas.microsoft.com/office/drawing/2014/main" id="{6A294ACA-6C60-2508-6E27-D56BE4664AC8}"/>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7CDFD3B9-9C07-01D2-7830-EECDB0DAEA2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82400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446949-52A5-C256-73BF-0992D40D856E}"/>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954E5709-4C0D-3F83-A61B-3233FB713A2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D225D99-1E16-EFA9-3ECC-94F30C513A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840298D-BA25-2E38-90A4-1A039B922D18}"/>
              </a:ext>
            </a:extLst>
          </p:cNvPr>
          <p:cNvSpPr>
            <a:spLocks noGrp="1"/>
          </p:cNvSpPr>
          <p:nvPr>
            <p:ph type="dt" sz="half" idx="10"/>
          </p:nvPr>
        </p:nvSpPr>
        <p:spPr/>
        <p:txBody>
          <a:bodyPr/>
          <a:lstStyle/>
          <a:p>
            <a:fld id="{5A01070B-0523-431D-A9BC-029A56E07888}" type="datetime1">
              <a:rPr lang="de-DE" smtClean="0"/>
              <a:t>28.08.2026</a:t>
            </a:fld>
            <a:endParaRPr lang="de-DE"/>
          </a:p>
        </p:txBody>
      </p:sp>
      <p:sp>
        <p:nvSpPr>
          <p:cNvPr id="6" name="Fußzeilenplatzhalter 5">
            <a:extLst>
              <a:ext uri="{FF2B5EF4-FFF2-40B4-BE49-F238E27FC236}">
                <a16:creationId xmlns:a16="http://schemas.microsoft.com/office/drawing/2014/main" id="{E882FE8A-4125-57D5-107B-890250C503A7}"/>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DFC8C1E-E81C-B8D3-37A7-5EB46EB15813}"/>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2668649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0EEBD7-4092-F897-E1BC-25EF4F36854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4EE983C0-64F4-C0AF-A96B-BCBC06D3C49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E3F88448-71D8-177C-A0BF-33B972290D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111DB9D7-2A87-11AE-E597-7152F9BB5707}"/>
              </a:ext>
            </a:extLst>
          </p:cNvPr>
          <p:cNvSpPr>
            <a:spLocks noGrp="1"/>
          </p:cNvSpPr>
          <p:nvPr>
            <p:ph type="dt" sz="half" idx="10"/>
          </p:nvPr>
        </p:nvSpPr>
        <p:spPr/>
        <p:txBody>
          <a:bodyPr/>
          <a:lstStyle/>
          <a:p>
            <a:fld id="{F9CE15D7-613E-4402-96C5-C2CA2C92752D}" type="datetime1">
              <a:rPr lang="de-DE" smtClean="0"/>
              <a:t>28.08.2026</a:t>
            </a:fld>
            <a:endParaRPr lang="de-DE"/>
          </a:p>
        </p:txBody>
      </p:sp>
      <p:sp>
        <p:nvSpPr>
          <p:cNvPr id="6" name="Fußzeilenplatzhalter 5">
            <a:extLst>
              <a:ext uri="{FF2B5EF4-FFF2-40B4-BE49-F238E27FC236}">
                <a16:creationId xmlns:a16="http://schemas.microsoft.com/office/drawing/2014/main" id="{67E7AD3F-DA64-329B-EB7B-8458CE6118B0}"/>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97B52A6E-4AC1-AC7F-91D1-361825E6EBFA}"/>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42342129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B01B96-B607-047C-A9F9-E993DA56F7A3}"/>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1AC0D228-4C30-9141-4086-93EFD83BF103}"/>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8A9B9670-8C76-3166-4463-A0EFF8421380}"/>
              </a:ext>
            </a:extLst>
          </p:cNvPr>
          <p:cNvSpPr>
            <a:spLocks noGrp="1"/>
          </p:cNvSpPr>
          <p:nvPr>
            <p:ph type="dt" sz="half" idx="10"/>
          </p:nvPr>
        </p:nvSpPr>
        <p:spPr/>
        <p:txBody>
          <a:bodyPr/>
          <a:lstStyle/>
          <a:p>
            <a:fld id="{824B91BD-ED9E-476A-A06E-908727E2A80D}" type="datetime1">
              <a:rPr lang="de-DE" smtClean="0"/>
              <a:t>28.08.2026</a:t>
            </a:fld>
            <a:endParaRPr lang="de-DE"/>
          </a:p>
        </p:txBody>
      </p:sp>
      <p:sp>
        <p:nvSpPr>
          <p:cNvPr id="5" name="Fußzeilenplatzhalter 4">
            <a:extLst>
              <a:ext uri="{FF2B5EF4-FFF2-40B4-BE49-F238E27FC236}">
                <a16:creationId xmlns:a16="http://schemas.microsoft.com/office/drawing/2014/main" id="{1D069CA2-3A3E-3533-16F2-135A4ACBF51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BD38405-9797-DADA-7747-E299DAEF8A7E}"/>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2857444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0A6649BF-D567-52A5-825C-811B041756B4}"/>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EE7D32FA-72ED-FEFB-4A7E-EBA2DF9606B6}"/>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D9E07A51-5BA4-2B75-2D4A-45C8A653ED70}"/>
              </a:ext>
            </a:extLst>
          </p:cNvPr>
          <p:cNvSpPr>
            <a:spLocks noGrp="1"/>
          </p:cNvSpPr>
          <p:nvPr>
            <p:ph type="dt" sz="half" idx="10"/>
          </p:nvPr>
        </p:nvSpPr>
        <p:spPr/>
        <p:txBody>
          <a:bodyPr/>
          <a:lstStyle/>
          <a:p>
            <a:fld id="{A2368254-BA55-4C05-9E38-B4E4C7EF4282}" type="datetime1">
              <a:rPr lang="de-DE" smtClean="0"/>
              <a:t>28.08.2026</a:t>
            </a:fld>
            <a:endParaRPr lang="de-DE"/>
          </a:p>
        </p:txBody>
      </p:sp>
      <p:sp>
        <p:nvSpPr>
          <p:cNvPr id="5" name="Fußzeilenplatzhalter 4">
            <a:extLst>
              <a:ext uri="{FF2B5EF4-FFF2-40B4-BE49-F238E27FC236}">
                <a16:creationId xmlns:a16="http://schemas.microsoft.com/office/drawing/2014/main" id="{30663A5C-A2A5-EDC0-3A50-D45E21A018A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AC8BE05-F8A7-9279-33CF-7DFE638A7AB8}"/>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2417256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10AE4B27-1C80-B176-F757-BB9261D8D31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A8BB405A-F922-6A0A-FF11-1CFF2A169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AD19551F-29A9-AF11-FE9D-8DEBE0215A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CC87FF6-5757-40EA-9A79-81DCEBA8D2C6}" type="datetime1">
              <a:rPr lang="de-DE" smtClean="0"/>
              <a:t>28.08.2026</a:t>
            </a:fld>
            <a:endParaRPr lang="de-DE"/>
          </a:p>
        </p:txBody>
      </p:sp>
      <p:sp>
        <p:nvSpPr>
          <p:cNvPr id="5" name="Fußzeilenplatzhalter 4">
            <a:extLst>
              <a:ext uri="{FF2B5EF4-FFF2-40B4-BE49-F238E27FC236}">
                <a16:creationId xmlns:a16="http://schemas.microsoft.com/office/drawing/2014/main" id="{ABFEF9B5-4594-948E-AE36-8A29A444C9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656B690B-C5C8-3B31-6A9C-6C52AB8E2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251280-DAE6-4033-B7F4-5E0D817A0287}" type="slidenum">
              <a:rPr lang="de-DE" smtClean="0"/>
              <a:t>‹Nr.›</a:t>
            </a:fld>
            <a:endParaRPr lang="de-DE"/>
          </a:p>
        </p:txBody>
      </p:sp>
    </p:spTree>
    <p:extLst>
      <p:ext uri="{BB962C8B-B14F-4D97-AF65-F5344CB8AC3E}">
        <p14:creationId xmlns:p14="http://schemas.microsoft.com/office/powerpoint/2010/main" val="42078868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3D8BE5E-5C70-416B-A126-3609E0E10C01}"/>
              </a:ext>
            </a:extLst>
          </p:cNvPr>
          <p:cNvSpPr>
            <a:spLocks noGrp="1"/>
          </p:cNvSpPr>
          <p:nvPr>
            <p:ph type="ctrTitle"/>
          </p:nvPr>
        </p:nvSpPr>
        <p:spPr/>
        <p:txBody>
          <a:bodyPr/>
          <a:lstStyle/>
          <a:p>
            <a:r>
              <a:rPr lang="de-DE" dirty="0"/>
              <a:t>Projekt Brotzeit</a:t>
            </a:r>
          </a:p>
        </p:txBody>
      </p:sp>
      <p:sp>
        <p:nvSpPr>
          <p:cNvPr id="3" name="Untertitel 2">
            <a:extLst>
              <a:ext uri="{FF2B5EF4-FFF2-40B4-BE49-F238E27FC236}">
                <a16:creationId xmlns:a16="http://schemas.microsoft.com/office/drawing/2014/main" id="{E5D932DE-99A5-37B0-128B-9DBE37BF9926}"/>
              </a:ext>
            </a:extLst>
          </p:cNvPr>
          <p:cNvSpPr>
            <a:spLocks noGrp="1"/>
          </p:cNvSpPr>
          <p:nvPr>
            <p:ph type="subTitle" idx="1"/>
          </p:nvPr>
        </p:nvSpPr>
        <p:spPr/>
        <p:txBody>
          <a:bodyPr>
            <a:normAutofit fontScale="77500" lnSpcReduction="20000"/>
          </a:bodyPr>
          <a:lstStyle/>
          <a:p>
            <a:r>
              <a:rPr lang="de-DE" dirty="0"/>
              <a:t>Modul: Data Engineer</a:t>
            </a:r>
          </a:p>
          <a:p>
            <a:r>
              <a:rPr lang="de-DE" dirty="0"/>
              <a:t>Gruppe N1: </a:t>
            </a:r>
          </a:p>
          <a:p>
            <a:r>
              <a:rPr lang="de-DE" dirty="0"/>
              <a:t>Christine van </a:t>
            </a:r>
            <a:r>
              <a:rPr lang="de-DE" dirty="0" err="1"/>
              <a:t>Stiphoudt</a:t>
            </a:r>
            <a:endParaRPr lang="de-DE" dirty="0"/>
          </a:p>
          <a:p>
            <a:r>
              <a:rPr lang="de-DE" dirty="0"/>
              <a:t>Thora Luise Fiedler</a:t>
            </a:r>
          </a:p>
          <a:p>
            <a:r>
              <a:rPr lang="de-DE" dirty="0"/>
              <a:t>Tabita Pothmann</a:t>
            </a:r>
          </a:p>
        </p:txBody>
      </p:sp>
      <p:sp>
        <p:nvSpPr>
          <p:cNvPr id="4" name="Foliennummernplatzhalter 3">
            <a:extLst>
              <a:ext uri="{FF2B5EF4-FFF2-40B4-BE49-F238E27FC236}">
                <a16:creationId xmlns:a16="http://schemas.microsoft.com/office/drawing/2014/main" id="{FCBB7D3D-A589-62AC-63E4-B858CFAB6090}"/>
              </a:ext>
            </a:extLst>
          </p:cNvPr>
          <p:cNvSpPr>
            <a:spLocks noGrp="1"/>
          </p:cNvSpPr>
          <p:nvPr>
            <p:ph type="sldNum" sz="quarter" idx="12"/>
          </p:nvPr>
        </p:nvSpPr>
        <p:spPr/>
        <p:txBody>
          <a:bodyPr/>
          <a:lstStyle/>
          <a:p>
            <a:fld id="{9B251280-DAE6-4033-B7F4-5E0D817A0287}" type="slidenum">
              <a:rPr lang="de-DE" smtClean="0"/>
              <a:t>1</a:t>
            </a:fld>
            <a:endParaRPr lang="de-DE"/>
          </a:p>
        </p:txBody>
      </p:sp>
    </p:spTree>
    <p:extLst>
      <p:ext uri="{BB962C8B-B14F-4D97-AF65-F5344CB8AC3E}">
        <p14:creationId xmlns:p14="http://schemas.microsoft.com/office/powerpoint/2010/main" val="4256554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7E5309-D527-F11C-F4CC-7CDC9DAE65D1}"/>
              </a:ext>
            </a:extLst>
          </p:cNvPr>
          <p:cNvSpPr>
            <a:spLocks noGrp="1"/>
          </p:cNvSpPr>
          <p:nvPr>
            <p:ph type="title"/>
          </p:nvPr>
        </p:nvSpPr>
        <p:spPr/>
        <p:txBody>
          <a:bodyPr/>
          <a:lstStyle/>
          <a:p>
            <a:r>
              <a:rPr lang="de-DE" dirty="0"/>
              <a:t>Projektbeschreibung</a:t>
            </a:r>
          </a:p>
        </p:txBody>
      </p:sp>
      <p:sp>
        <p:nvSpPr>
          <p:cNvPr id="3" name="Inhaltsplatzhalter 2">
            <a:extLst>
              <a:ext uri="{FF2B5EF4-FFF2-40B4-BE49-F238E27FC236}">
                <a16:creationId xmlns:a16="http://schemas.microsoft.com/office/drawing/2014/main" id="{2C004C3D-CDAF-60F4-A0A6-EFB2D439C740}"/>
              </a:ext>
            </a:extLst>
          </p:cNvPr>
          <p:cNvSpPr>
            <a:spLocks noGrp="1"/>
          </p:cNvSpPr>
          <p:nvPr>
            <p:ph idx="1"/>
          </p:nvPr>
        </p:nvSpPr>
        <p:spPr/>
        <p:txBody>
          <a:bodyPr>
            <a:normAutofit fontScale="70000" lnSpcReduction="20000"/>
          </a:bodyPr>
          <a:lstStyle/>
          <a:p>
            <a:pPr marL="0" indent="0" algn="just">
              <a:buNone/>
            </a:pPr>
            <a:r>
              <a:rPr lang="de-DE" dirty="0"/>
              <a:t>Die wachsende regionale Bäckereikette </a:t>
            </a:r>
            <a:r>
              <a:rPr lang="de-DE" i="1" dirty="0" err="1"/>
              <a:t>BrotZeit</a:t>
            </a:r>
            <a:r>
              <a:rPr lang="de-DE" i="1" dirty="0"/>
              <a:t> GmbH</a:t>
            </a:r>
            <a:r>
              <a:rPr lang="de-DE" dirty="0"/>
              <a:t> steht vor der Herausforderung, ihre dezentralen Filialen effizienter zu steuern. Um fundierte Entscheidungen zu treffen, soll ein zentrales Data Warehouse (DWH) aufgebaut werden. Dieses soll Verkaufsdaten, betriebswirtschaftliche Kennzahlen und Produktionsdaten integrieren, um Gewinnmargen zu optimieren, Kosten zu senken und die Filialperformance zu bewerten.</a:t>
            </a:r>
          </a:p>
          <a:p>
            <a:pPr marL="0" indent="0" algn="just">
              <a:buNone/>
            </a:pPr>
            <a:r>
              <a:rPr lang="de-DE" dirty="0"/>
              <a:t>Für die Umsetzung sind sechs zentrale Fragestellungen zu beantworten, die sich auf Umsatz, Kosten und Produktperformance konzentrieren. Dazu gehören die Kategorisierung der Filialen nach Umsatz und Betriebskosten (z. B. Heizung, Strom, Miete), die Analyse der Personalkosten (inkl. Schichtpläne und Umsatz pro Mitarbeiter) sowie die Berechnung von Produktmargen unter Berücksichtigung von Zutatenkosten, Energieverbrauch und Herstellungsdauer. Ein weiterer Fokus liegt auf der tageszeitlichen Verkaufsverteilung pro Standort und Produkt, um Nachfragespitzen zu identifizieren und die Produktion effizienter zu steuern. Die Lösung soll dabei historische Daten (z. B. monatliche Kosten) und Echtzeit-Analysen (z. B. tägliche Verkäufe) unterstützen, um sowohl strategische als auch operative Entscheidungen zu ermöglichen.</a:t>
            </a:r>
          </a:p>
          <a:p>
            <a:pPr marL="0" indent="0" algn="just">
              <a:buNone/>
            </a:pPr>
            <a:endParaRPr lang="de-DE" dirty="0"/>
          </a:p>
          <a:p>
            <a:pPr marL="0" indent="0" algn="just">
              <a:buNone/>
            </a:pPr>
            <a:r>
              <a:rPr lang="en-GB" sz="2300" dirty="0"/>
              <a:t>Inspiration:  https://bimanu.de/blog/baeckerei-zukunft/ [24.8.2026]</a:t>
            </a:r>
            <a:endParaRPr lang="de-DE" sz="2300" dirty="0"/>
          </a:p>
          <a:p>
            <a:pPr marL="0" indent="0" algn="just">
              <a:buNone/>
            </a:pPr>
            <a:endParaRPr lang="de-DE" dirty="0"/>
          </a:p>
        </p:txBody>
      </p:sp>
      <p:sp>
        <p:nvSpPr>
          <p:cNvPr id="4" name="Foliennummernplatzhalter 3">
            <a:extLst>
              <a:ext uri="{FF2B5EF4-FFF2-40B4-BE49-F238E27FC236}">
                <a16:creationId xmlns:a16="http://schemas.microsoft.com/office/drawing/2014/main" id="{91C5491F-E57B-2180-E0B2-F2807057FCF5}"/>
              </a:ext>
            </a:extLst>
          </p:cNvPr>
          <p:cNvSpPr>
            <a:spLocks noGrp="1"/>
          </p:cNvSpPr>
          <p:nvPr>
            <p:ph type="sldNum" sz="quarter" idx="12"/>
          </p:nvPr>
        </p:nvSpPr>
        <p:spPr/>
        <p:txBody>
          <a:bodyPr/>
          <a:lstStyle/>
          <a:p>
            <a:fld id="{9B251280-DAE6-4033-B7F4-5E0D817A0287}" type="slidenum">
              <a:rPr lang="de-DE" smtClean="0"/>
              <a:t>2</a:t>
            </a:fld>
            <a:endParaRPr lang="de-DE"/>
          </a:p>
        </p:txBody>
      </p:sp>
    </p:spTree>
    <p:extLst>
      <p:ext uri="{BB962C8B-B14F-4D97-AF65-F5344CB8AC3E}">
        <p14:creationId xmlns:p14="http://schemas.microsoft.com/office/powerpoint/2010/main" val="29913469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FB860B5-6996-46D6-BDBA-BB4E12AA309C}"/>
              </a:ext>
            </a:extLst>
          </p:cNvPr>
          <p:cNvSpPr>
            <a:spLocks noGrp="1"/>
          </p:cNvSpPr>
          <p:nvPr>
            <p:ph type="title"/>
          </p:nvPr>
        </p:nvSpPr>
        <p:spPr/>
        <p:txBody>
          <a:bodyPr/>
          <a:lstStyle/>
          <a:p>
            <a:r>
              <a:rPr lang="de-DE" dirty="0"/>
              <a:t>Einschränkungen / Randbedingungen</a:t>
            </a:r>
          </a:p>
        </p:txBody>
      </p:sp>
      <p:sp>
        <p:nvSpPr>
          <p:cNvPr id="3" name="Inhaltsplatzhalter 2">
            <a:extLst>
              <a:ext uri="{FF2B5EF4-FFF2-40B4-BE49-F238E27FC236}">
                <a16:creationId xmlns:a16="http://schemas.microsoft.com/office/drawing/2014/main" id="{A96E3B3A-8665-46F9-9318-9B5104BBC729}"/>
              </a:ext>
            </a:extLst>
          </p:cNvPr>
          <p:cNvSpPr>
            <a:spLocks noGrp="1"/>
          </p:cNvSpPr>
          <p:nvPr>
            <p:ph idx="1"/>
          </p:nvPr>
        </p:nvSpPr>
        <p:spPr/>
        <p:txBody>
          <a:bodyPr/>
          <a:lstStyle/>
          <a:p>
            <a:r>
              <a:rPr lang="de-DE" dirty="0"/>
              <a:t>Bäckereikette mit 50 Filialen</a:t>
            </a:r>
          </a:p>
          <a:p>
            <a:r>
              <a:rPr lang="de-DE" dirty="0"/>
              <a:t>Jede Filiale hat nur eine Kasse mit Profilen je Verkäufer</a:t>
            </a:r>
            <a:br>
              <a:rPr lang="de-DE" dirty="0"/>
            </a:br>
            <a:r>
              <a:rPr lang="de-DE" dirty="0">
                <a:sym typeface="Wingdings" panose="05000000000000000000" pitchFamily="2" charset="2"/>
              </a:rPr>
              <a:t> pro Filiale kann zu einem Zeitpunkt nur ein Verkauf stattfinden</a:t>
            </a:r>
          </a:p>
          <a:p>
            <a:r>
              <a:rPr lang="de-DE" dirty="0"/>
              <a:t>Es gibt eine Personaldatenbank mit allen Mitarbeitern aber im Kassensystem sind nur die Verkäufer gespeichert</a:t>
            </a:r>
          </a:p>
          <a:p>
            <a:r>
              <a:rPr lang="de-DE" dirty="0"/>
              <a:t>Die Bäcker speichern ihre Rezepte in einer Rezeptdatenbank und es gibt verschiedene Versionen, wenn sich Kleinigkeiten ändern, ohne dass es ein neues Produkt wird</a:t>
            </a:r>
          </a:p>
          <a:p>
            <a:r>
              <a:rPr lang="de-DE" dirty="0"/>
              <a:t>Es wird immer nur die aktuellste Produktversion verwendet</a:t>
            </a:r>
          </a:p>
        </p:txBody>
      </p:sp>
      <p:sp>
        <p:nvSpPr>
          <p:cNvPr id="4" name="Foliennummernplatzhalter 3">
            <a:extLst>
              <a:ext uri="{FF2B5EF4-FFF2-40B4-BE49-F238E27FC236}">
                <a16:creationId xmlns:a16="http://schemas.microsoft.com/office/drawing/2014/main" id="{88F8E208-AC06-343C-8B80-37A324207EBB}"/>
              </a:ext>
            </a:extLst>
          </p:cNvPr>
          <p:cNvSpPr>
            <a:spLocks noGrp="1"/>
          </p:cNvSpPr>
          <p:nvPr>
            <p:ph type="sldNum" sz="quarter" idx="12"/>
          </p:nvPr>
        </p:nvSpPr>
        <p:spPr/>
        <p:txBody>
          <a:bodyPr/>
          <a:lstStyle/>
          <a:p>
            <a:fld id="{9B251280-DAE6-4033-B7F4-5E0D817A0287}" type="slidenum">
              <a:rPr lang="de-DE" smtClean="0"/>
              <a:t>3</a:t>
            </a:fld>
            <a:endParaRPr lang="de-DE"/>
          </a:p>
        </p:txBody>
      </p:sp>
    </p:spTree>
    <p:extLst>
      <p:ext uri="{BB962C8B-B14F-4D97-AF65-F5344CB8AC3E}">
        <p14:creationId xmlns:p14="http://schemas.microsoft.com/office/powerpoint/2010/main" val="15407177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344207B-F6E8-FE0D-1E2A-589531ADD153}"/>
              </a:ext>
            </a:extLst>
          </p:cNvPr>
          <p:cNvSpPr>
            <a:spLocks noGrp="1"/>
          </p:cNvSpPr>
          <p:nvPr>
            <p:ph type="title"/>
          </p:nvPr>
        </p:nvSpPr>
        <p:spPr/>
        <p:txBody>
          <a:bodyPr/>
          <a:lstStyle/>
          <a:p>
            <a:r>
              <a:rPr lang="de-DE" dirty="0"/>
              <a:t>Business-Datenbank</a:t>
            </a:r>
          </a:p>
        </p:txBody>
      </p:sp>
      <p:sp>
        <p:nvSpPr>
          <p:cNvPr id="6" name="Textplatzhalter 5">
            <a:extLst>
              <a:ext uri="{FF2B5EF4-FFF2-40B4-BE49-F238E27FC236}">
                <a16:creationId xmlns:a16="http://schemas.microsoft.com/office/drawing/2014/main" id="{956B4F7D-75CB-2BC3-1D22-870DEF942471}"/>
              </a:ext>
            </a:extLst>
          </p:cNvPr>
          <p:cNvSpPr>
            <a:spLocks noGrp="1"/>
          </p:cNvSpPr>
          <p:nvPr>
            <p:ph type="body" idx="1"/>
          </p:nvPr>
        </p:nvSpPr>
        <p:spPr/>
        <p:txBody>
          <a:bodyPr/>
          <a:lstStyle/>
          <a:p>
            <a:endParaRPr lang="de-DE"/>
          </a:p>
        </p:txBody>
      </p:sp>
      <p:sp>
        <p:nvSpPr>
          <p:cNvPr id="2" name="Foliennummernplatzhalter 1">
            <a:extLst>
              <a:ext uri="{FF2B5EF4-FFF2-40B4-BE49-F238E27FC236}">
                <a16:creationId xmlns:a16="http://schemas.microsoft.com/office/drawing/2014/main" id="{CD8CD834-2B37-4BB4-2D3B-C198A9C8074B}"/>
              </a:ext>
            </a:extLst>
          </p:cNvPr>
          <p:cNvSpPr>
            <a:spLocks noGrp="1"/>
          </p:cNvSpPr>
          <p:nvPr>
            <p:ph type="sldNum" sz="quarter" idx="12"/>
          </p:nvPr>
        </p:nvSpPr>
        <p:spPr/>
        <p:txBody>
          <a:bodyPr/>
          <a:lstStyle/>
          <a:p>
            <a:fld id="{9B251280-DAE6-4033-B7F4-5E0D817A0287}" type="slidenum">
              <a:rPr lang="de-DE" smtClean="0"/>
              <a:t>4</a:t>
            </a:fld>
            <a:endParaRPr lang="de-DE"/>
          </a:p>
        </p:txBody>
      </p:sp>
    </p:spTree>
    <p:extLst>
      <p:ext uri="{BB962C8B-B14F-4D97-AF65-F5344CB8AC3E}">
        <p14:creationId xmlns:p14="http://schemas.microsoft.com/office/powerpoint/2010/main" val="1658964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1DD4EA-F686-209D-5EAA-A201675BC838}"/>
              </a:ext>
            </a:extLst>
          </p:cNvPr>
          <p:cNvSpPr>
            <a:spLocks noGrp="1"/>
          </p:cNvSpPr>
          <p:nvPr>
            <p:ph type="title"/>
          </p:nvPr>
        </p:nvSpPr>
        <p:spPr/>
        <p:txBody>
          <a:bodyPr/>
          <a:lstStyle/>
          <a:p>
            <a:r>
              <a:rPr lang="de-DE" dirty="0"/>
              <a:t>ER-Modell</a:t>
            </a:r>
          </a:p>
        </p:txBody>
      </p:sp>
      <p:pic>
        <p:nvPicPr>
          <p:cNvPr id="5" name="Inhaltsplatzhalter 4">
            <a:extLst>
              <a:ext uri="{FF2B5EF4-FFF2-40B4-BE49-F238E27FC236}">
                <a16:creationId xmlns:a16="http://schemas.microsoft.com/office/drawing/2014/main" id="{5958ECF7-6681-4E8F-1DB6-09792D4C0334}"/>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3493971" y="28692"/>
            <a:ext cx="8698029" cy="6767165"/>
          </a:xfrm>
          <a:prstGeom prst="rect">
            <a:avLst/>
          </a:prstGeom>
        </p:spPr>
      </p:pic>
      <p:sp>
        <p:nvSpPr>
          <p:cNvPr id="3" name="Foliennummernplatzhalter 2">
            <a:extLst>
              <a:ext uri="{FF2B5EF4-FFF2-40B4-BE49-F238E27FC236}">
                <a16:creationId xmlns:a16="http://schemas.microsoft.com/office/drawing/2014/main" id="{95C491D6-7182-1444-551E-536C039CBE13}"/>
              </a:ext>
            </a:extLst>
          </p:cNvPr>
          <p:cNvSpPr>
            <a:spLocks noGrp="1"/>
          </p:cNvSpPr>
          <p:nvPr>
            <p:ph type="sldNum" sz="quarter" idx="12"/>
          </p:nvPr>
        </p:nvSpPr>
        <p:spPr/>
        <p:txBody>
          <a:bodyPr/>
          <a:lstStyle/>
          <a:p>
            <a:fld id="{9B251280-DAE6-4033-B7F4-5E0D817A0287}" type="slidenum">
              <a:rPr lang="de-DE" smtClean="0"/>
              <a:t>5</a:t>
            </a:fld>
            <a:endParaRPr lang="de-DE"/>
          </a:p>
        </p:txBody>
      </p:sp>
    </p:spTree>
    <p:extLst>
      <p:ext uri="{BB962C8B-B14F-4D97-AF65-F5344CB8AC3E}">
        <p14:creationId xmlns:p14="http://schemas.microsoft.com/office/powerpoint/2010/main" val="42356220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BD715-3676-935E-38EB-BD2C743112A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2831E0B-A35D-6CE2-1C12-0FA63ECD3FF9}"/>
              </a:ext>
            </a:extLst>
          </p:cNvPr>
          <p:cNvSpPr>
            <a:spLocks noGrp="1"/>
          </p:cNvSpPr>
          <p:nvPr>
            <p:ph type="title"/>
          </p:nvPr>
        </p:nvSpPr>
        <p:spPr/>
        <p:txBody>
          <a:bodyPr/>
          <a:lstStyle/>
          <a:p>
            <a:r>
              <a:rPr lang="de-DE" dirty="0"/>
              <a:t>ER-Modell</a:t>
            </a:r>
          </a:p>
        </p:txBody>
      </p:sp>
      <p:pic>
        <p:nvPicPr>
          <p:cNvPr id="5" name="Inhaltsplatzhalter 4">
            <a:extLst>
              <a:ext uri="{FF2B5EF4-FFF2-40B4-BE49-F238E27FC236}">
                <a16:creationId xmlns:a16="http://schemas.microsoft.com/office/drawing/2014/main" id="{65546AFA-8C5C-113E-4730-2C14968D07F3}"/>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3493971" y="28692"/>
            <a:ext cx="8698029" cy="6767165"/>
          </a:xfrm>
          <a:prstGeom prst="rect">
            <a:avLst/>
          </a:prstGeom>
        </p:spPr>
      </p:pic>
      <p:sp>
        <p:nvSpPr>
          <p:cNvPr id="3" name="Textfeld 2">
            <a:extLst>
              <a:ext uri="{FF2B5EF4-FFF2-40B4-BE49-F238E27FC236}">
                <a16:creationId xmlns:a16="http://schemas.microsoft.com/office/drawing/2014/main" id="{53AB9A28-53A6-C7A7-B0BB-770F490B08B3}"/>
              </a:ext>
            </a:extLst>
          </p:cNvPr>
          <p:cNvSpPr txBox="1"/>
          <p:nvPr/>
        </p:nvSpPr>
        <p:spPr>
          <a:xfrm>
            <a:off x="838200" y="1657789"/>
            <a:ext cx="2609497" cy="369332"/>
          </a:xfrm>
          <a:prstGeom prst="rect">
            <a:avLst/>
          </a:prstGeom>
          <a:noFill/>
        </p:spPr>
        <p:txBody>
          <a:bodyPr wrap="none" rtlCol="0">
            <a:spAutoFit/>
          </a:bodyPr>
          <a:lstStyle/>
          <a:p>
            <a:r>
              <a:rPr lang="de-DE" dirty="0"/>
              <a:t>Mit Datenquellsystemen</a:t>
            </a:r>
          </a:p>
        </p:txBody>
      </p:sp>
      <p:sp>
        <p:nvSpPr>
          <p:cNvPr id="4" name="Foliennummernplatzhalter 3">
            <a:extLst>
              <a:ext uri="{FF2B5EF4-FFF2-40B4-BE49-F238E27FC236}">
                <a16:creationId xmlns:a16="http://schemas.microsoft.com/office/drawing/2014/main" id="{4DAC92D2-84A4-AC51-AC12-D8C99FC84C6B}"/>
              </a:ext>
            </a:extLst>
          </p:cNvPr>
          <p:cNvSpPr>
            <a:spLocks noGrp="1"/>
          </p:cNvSpPr>
          <p:nvPr>
            <p:ph type="sldNum" sz="quarter" idx="12"/>
          </p:nvPr>
        </p:nvSpPr>
        <p:spPr/>
        <p:txBody>
          <a:bodyPr/>
          <a:lstStyle/>
          <a:p>
            <a:fld id="{9B251280-DAE6-4033-B7F4-5E0D817A0287}" type="slidenum">
              <a:rPr lang="de-DE" smtClean="0"/>
              <a:t>6</a:t>
            </a:fld>
            <a:endParaRPr lang="de-DE"/>
          </a:p>
        </p:txBody>
      </p:sp>
    </p:spTree>
    <p:extLst>
      <p:ext uri="{BB962C8B-B14F-4D97-AF65-F5344CB8AC3E}">
        <p14:creationId xmlns:p14="http://schemas.microsoft.com/office/powerpoint/2010/main" val="42809272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8BBB4D9-AB0A-37B6-B9D7-67AEE8951BA2}"/>
              </a:ext>
            </a:extLst>
          </p:cNvPr>
          <p:cNvSpPr>
            <a:spLocks noGrp="1"/>
          </p:cNvSpPr>
          <p:nvPr>
            <p:ph type="title"/>
          </p:nvPr>
        </p:nvSpPr>
        <p:spPr/>
        <p:txBody>
          <a:bodyPr/>
          <a:lstStyle/>
          <a:p>
            <a:r>
              <a:rPr lang="de-DE" dirty="0"/>
              <a:t>Data Warehouse</a:t>
            </a:r>
          </a:p>
        </p:txBody>
      </p:sp>
      <p:sp>
        <p:nvSpPr>
          <p:cNvPr id="5" name="Textplatzhalter 4">
            <a:extLst>
              <a:ext uri="{FF2B5EF4-FFF2-40B4-BE49-F238E27FC236}">
                <a16:creationId xmlns:a16="http://schemas.microsoft.com/office/drawing/2014/main" id="{DDD8E57D-6B19-DF39-2489-BEAA298E6F36}"/>
              </a:ext>
            </a:extLst>
          </p:cNvPr>
          <p:cNvSpPr>
            <a:spLocks noGrp="1"/>
          </p:cNvSpPr>
          <p:nvPr>
            <p:ph type="body" idx="1"/>
          </p:nvPr>
        </p:nvSpPr>
        <p:spPr/>
        <p:txBody>
          <a:bodyPr/>
          <a:lstStyle/>
          <a:p>
            <a:endParaRPr lang="de-DE"/>
          </a:p>
        </p:txBody>
      </p:sp>
      <p:sp>
        <p:nvSpPr>
          <p:cNvPr id="2" name="Foliennummernplatzhalter 1">
            <a:extLst>
              <a:ext uri="{FF2B5EF4-FFF2-40B4-BE49-F238E27FC236}">
                <a16:creationId xmlns:a16="http://schemas.microsoft.com/office/drawing/2014/main" id="{94F77171-AD0D-3A5E-9C9B-946B96B0AAF8}"/>
              </a:ext>
            </a:extLst>
          </p:cNvPr>
          <p:cNvSpPr>
            <a:spLocks noGrp="1"/>
          </p:cNvSpPr>
          <p:nvPr>
            <p:ph type="sldNum" sz="quarter" idx="12"/>
          </p:nvPr>
        </p:nvSpPr>
        <p:spPr/>
        <p:txBody>
          <a:bodyPr/>
          <a:lstStyle/>
          <a:p>
            <a:fld id="{9B251280-DAE6-4033-B7F4-5E0D817A0287}" type="slidenum">
              <a:rPr lang="de-DE" smtClean="0"/>
              <a:t>7</a:t>
            </a:fld>
            <a:endParaRPr lang="de-DE"/>
          </a:p>
        </p:txBody>
      </p:sp>
    </p:spTree>
    <p:extLst>
      <p:ext uri="{BB962C8B-B14F-4D97-AF65-F5344CB8AC3E}">
        <p14:creationId xmlns:p14="http://schemas.microsoft.com/office/powerpoint/2010/main" val="28248832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7FBC5EB2-8E38-A6FF-3747-7C0FBA075449}"/>
              </a:ext>
            </a:extLst>
          </p:cNvPr>
          <p:cNvSpPr>
            <a:spLocks noGrp="1"/>
          </p:cNvSpPr>
          <p:nvPr>
            <p:ph type="title"/>
          </p:nvPr>
        </p:nvSpPr>
        <p:spPr/>
        <p:txBody>
          <a:bodyPr/>
          <a:lstStyle/>
          <a:p>
            <a:r>
              <a:rPr lang="de-DE" dirty="0"/>
              <a:t>DWH-Fragen</a:t>
            </a:r>
          </a:p>
        </p:txBody>
      </p:sp>
      <p:sp>
        <p:nvSpPr>
          <p:cNvPr id="5" name="Inhaltsplatzhalter 4">
            <a:extLst>
              <a:ext uri="{FF2B5EF4-FFF2-40B4-BE49-F238E27FC236}">
                <a16:creationId xmlns:a16="http://schemas.microsoft.com/office/drawing/2014/main" id="{CE1C7ED1-A131-55DE-7840-35E53E3E2D37}"/>
              </a:ext>
            </a:extLst>
          </p:cNvPr>
          <p:cNvSpPr>
            <a:spLocks noGrp="1"/>
          </p:cNvSpPr>
          <p:nvPr>
            <p:ph idx="1"/>
          </p:nvPr>
        </p:nvSpPr>
        <p:spPr/>
        <p:txBody>
          <a:bodyPr>
            <a:normAutofit fontScale="92500" lnSpcReduction="10000"/>
          </a:bodyPr>
          <a:lstStyle/>
          <a:p>
            <a:pPr marL="514350" lvl="0" indent="-514350">
              <a:buFont typeface="+mj-lt"/>
              <a:buAutoNum type="arabicPeriod"/>
            </a:pPr>
            <a:r>
              <a:rPr lang="de-DE" dirty="0"/>
              <a:t>Welche Filialen haben den größten/kleinsten Umsatz? </a:t>
            </a:r>
            <a:r>
              <a:rPr lang="de-DE" i="1" dirty="0"/>
              <a:t>(Verkäufe/Stunde, Kategorisierung der Filialen)</a:t>
            </a:r>
            <a:endParaRPr lang="de-DE" dirty="0"/>
          </a:p>
          <a:p>
            <a:pPr marL="514350" lvl="0" indent="-514350">
              <a:buFont typeface="+mj-lt"/>
              <a:buAutoNum type="arabicPeriod"/>
            </a:pPr>
            <a:r>
              <a:rPr lang="de-DE" dirty="0"/>
              <a:t>Welche Produkte haben die größte/kleinste Marge? </a:t>
            </a:r>
            <a:r>
              <a:rPr lang="de-DE" i="1" dirty="0"/>
              <a:t>(Produktpreis, Kosten der Zutaten, Energieverbrauch, Herstellungsdauer)</a:t>
            </a:r>
            <a:endParaRPr lang="de-DE" dirty="0"/>
          </a:p>
          <a:p>
            <a:pPr marL="514350" lvl="0" indent="-514350">
              <a:buFont typeface="+mj-lt"/>
              <a:buAutoNum type="arabicPeriod"/>
            </a:pPr>
            <a:r>
              <a:rPr lang="de-DE" dirty="0"/>
              <a:t>Welche Produkte haben in der Herstellung den größten/kleinsten Energieverbrauch? </a:t>
            </a:r>
            <a:r>
              <a:rPr lang="de-DE" i="1" dirty="0"/>
              <a:t>(Backdauer, Kühlung der Zutaten)</a:t>
            </a:r>
            <a:endParaRPr lang="de-DE" dirty="0"/>
          </a:p>
          <a:p>
            <a:pPr marL="514350" lvl="0" indent="-514350">
              <a:buFont typeface="+mj-lt"/>
              <a:buAutoNum type="arabicPeriod"/>
            </a:pPr>
            <a:r>
              <a:rPr lang="de-DE" dirty="0"/>
              <a:t>Zu welchen Tageszeiten wird welche Produktkategorie an welchem Standort am meisten gekauft? (Verkäufe)</a:t>
            </a:r>
          </a:p>
          <a:p>
            <a:pPr marL="514350" lvl="0" indent="-514350">
              <a:buFont typeface="+mj-lt"/>
              <a:buAutoNum type="arabicPeriod"/>
            </a:pPr>
            <a:r>
              <a:rPr lang="de-DE" dirty="0"/>
              <a:t>Welche Produkte werden am meisten/am wenigsten verkauft?</a:t>
            </a:r>
          </a:p>
          <a:p>
            <a:pPr marL="514350" indent="-514350">
              <a:buFont typeface="+mj-lt"/>
              <a:buAutoNum type="arabicPeriod"/>
            </a:pPr>
            <a:r>
              <a:rPr lang="de-DE" dirty="0"/>
              <a:t>Welcher Verkäufer hat den größten durchschnittlichen Umsatz pro Verkauf?</a:t>
            </a:r>
          </a:p>
        </p:txBody>
      </p:sp>
      <p:sp>
        <p:nvSpPr>
          <p:cNvPr id="2" name="Foliennummernplatzhalter 1">
            <a:extLst>
              <a:ext uri="{FF2B5EF4-FFF2-40B4-BE49-F238E27FC236}">
                <a16:creationId xmlns:a16="http://schemas.microsoft.com/office/drawing/2014/main" id="{CA9BA9A5-FB34-C0F4-3853-26E196ED2ADF}"/>
              </a:ext>
            </a:extLst>
          </p:cNvPr>
          <p:cNvSpPr>
            <a:spLocks noGrp="1"/>
          </p:cNvSpPr>
          <p:nvPr>
            <p:ph type="sldNum" sz="quarter" idx="12"/>
          </p:nvPr>
        </p:nvSpPr>
        <p:spPr/>
        <p:txBody>
          <a:bodyPr/>
          <a:lstStyle/>
          <a:p>
            <a:fld id="{9B251280-DAE6-4033-B7F4-5E0D817A0287}" type="slidenum">
              <a:rPr lang="de-DE" smtClean="0"/>
              <a:t>8</a:t>
            </a:fld>
            <a:endParaRPr lang="de-DE"/>
          </a:p>
        </p:txBody>
      </p:sp>
    </p:spTree>
    <p:extLst>
      <p:ext uri="{BB962C8B-B14F-4D97-AF65-F5344CB8AC3E}">
        <p14:creationId xmlns:p14="http://schemas.microsoft.com/office/powerpoint/2010/main" val="2374978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25C50AD-AB12-3666-A634-324EE9A12F09}"/>
              </a:ext>
            </a:extLst>
          </p:cNvPr>
          <p:cNvSpPr>
            <a:spLocks noGrp="1"/>
          </p:cNvSpPr>
          <p:nvPr>
            <p:ph type="title"/>
          </p:nvPr>
        </p:nvSpPr>
        <p:spPr/>
        <p:txBody>
          <a:bodyPr/>
          <a:lstStyle/>
          <a:p>
            <a:r>
              <a:rPr lang="de-DE" dirty="0" err="1"/>
              <a:t>mER</a:t>
            </a:r>
            <a:endParaRPr lang="de-DE" dirty="0"/>
          </a:p>
        </p:txBody>
      </p:sp>
      <p:pic>
        <p:nvPicPr>
          <p:cNvPr id="5" name="Inhaltsplatzhalter 4">
            <a:extLst>
              <a:ext uri="{FF2B5EF4-FFF2-40B4-BE49-F238E27FC236}">
                <a16:creationId xmlns:a16="http://schemas.microsoft.com/office/drawing/2014/main" id="{C599200D-D61C-1F8B-D3A1-5E890165416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17794" y="365125"/>
            <a:ext cx="8736006" cy="5942782"/>
          </a:xfrm>
          <a:prstGeom prst="rect">
            <a:avLst/>
          </a:prstGeom>
        </p:spPr>
      </p:pic>
      <p:sp>
        <p:nvSpPr>
          <p:cNvPr id="3" name="Foliennummernplatzhalter 2">
            <a:extLst>
              <a:ext uri="{FF2B5EF4-FFF2-40B4-BE49-F238E27FC236}">
                <a16:creationId xmlns:a16="http://schemas.microsoft.com/office/drawing/2014/main" id="{78B97866-E830-0B5A-6B4B-91CF1B695285}"/>
              </a:ext>
            </a:extLst>
          </p:cNvPr>
          <p:cNvSpPr>
            <a:spLocks noGrp="1"/>
          </p:cNvSpPr>
          <p:nvPr>
            <p:ph type="sldNum" sz="quarter" idx="12"/>
          </p:nvPr>
        </p:nvSpPr>
        <p:spPr/>
        <p:txBody>
          <a:bodyPr/>
          <a:lstStyle/>
          <a:p>
            <a:fld id="{9B251280-DAE6-4033-B7F4-5E0D817A0287}" type="slidenum">
              <a:rPr lang="de-DE" smtClean="0"/>
              <a:t>9</a:t>
            </a:fld>
            <a:endParaRPr lang="de-DE"/>
          </a:p>
        </p:txBody>
      </p:sp>
    </p:spTree>
    <p:extLst>
      <p:ext uri="{BB962C8B-B14F-4D97-AF65-F5344CB8AC3E}">
        <p14:creationId xmlns:p14="http://schemas.microsoft.com/office/powerpoint/2010/main" val="4279201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04CDF3-4527-70B2-FABB-909DC6BA3CF1}"/>
              </a:ext>
            </a:extLst>
          </p:cNvPr>
          <p:cNvSpPr>
            <a:spLocks noGrp="1"/>
          </p:cNvSpPr>
          <p:nvPr>
            <p:ph type="title"/>
          </p:nvPr>
        </p:nvSpPr>
        <p:spPr/>
        <p:txBody>
          <a:bodyPr/>
          <a:lstStyle/>
          <a:p>
            <a:r>
              <a:rPr lang="de-DE" dirty="0"/>
              <a:t>Logisches Modell</a:t>
            </a:r>
            <a:br>
              <a:rPr lang="de-DE" dirty="0"/>
            </a:br>
            <a:r>
              <a:rPr lang="de-DE" dirty="0"/>
              <a:t>Galaxy Schema</a:t>
            </a:r>
          </a:p>
        </p:txBody>
      </p:sp>
      <p:pic>
        <p:nvPicPr>
          <p:cNvPr id="5" name="Inhaltsplatzhalter 4">
            <a:extLst>
              <a:ext uri="{FF2B5EF4-FFF2-40B4-BE49-F238E27FC236}">
                <a16:creationId xmlns:a16="http://schemas.microsoft.com/office/drawing/2014/main" id="{525D996C-32F6-0F32-53F9-94DC195EDD2E}"/>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5155932" y="0"/>
            <a:ext cx="5941996" cy="6727898"/>
          </a:xfrm>
          <a:prstGeom prst="rect">
            <a:avLst/>
          </a:prstGeom>
        </p:spPr>
      </p:pic>
      <p:sp>
        <p:nvSpPr>
          <p:cNvPr id="3" name="Foliennummernplatzhalter 2">
            <a:extLst>
              <a:ext uri="{FF2B5EF4-FFF2-40B4-BE49-F238E27FC236}">
                <a16:creationId xmlns:a16="http://schemas.microsoft.com/office/drawing/2014/main" id="{55D28807-0791-1730-E2DC-1922A31E9FFD}"/>
              </a:ext>
            </a:extLst>
          </p:cNvPr>
          <p:cNvSpPr>
            <a:spLocks noGrp="1"/>
          </p:cNvSpPr>
          <p:nvPr>
            <p:ph type="sldNum" sz="quarter" idx="12"/>
          </p:nvPr>
        </p:nvSpPr>
        <p:spPr/>
        <p:txBody>
          <a:bodyPr/>
          <a:lstStyle/>
          <a:p>
            <a:fld id="{9B251280-DAE6-4033-B7F4-5E0D817A0287}" type="slidenum">
              <a:rPr lang="de-DE" smtClean="0"/>
              <a:t>10</a:t>
            </a:fld>
            <a:endParaRPr lang="de-DE"/>
          </a:p>
        </p:txBody>
      </p:sp>
    </p:spTree>
    <p:extLst>
      <p:ext uri="{BB962C8B-B14F-4D97-AF65-F5344CB8AC3E}">
        <p14:creationId xmlns:p14="http://schemas.microsoft.com/office/powerpoint/2010/main" val="7631795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518B4-6F6D-629A-78BB-C72612DF9CC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81B224B-06D3-B13F-1F18-6E1D0094E5FF}"/>
              </a:ext>
            </a:extLst>
          </p:cNvPr>
          <p:cNvSpPr>
            <a:spLocks noGrp="1"/>
          </p:cNvSpPr>
          <p:nvPr>
            <p:ph type="title"/>
          </p:nvPr>
        </p:nvSpPr>
        <p:spPr/>
        <p:txBody>
          <a:bodyPr/>
          <a:lstStyle/>
          <a:p>
            <a:r>
              <a:rPr lang="de-DE" dirty="0"/>
              <a:t>Logisches Modell</a:t>
            </a:r>
            <a:br>
              <a:rPr lang="de-DE" dirty="0"/>
            </a:br>
            <a:r>
              <a:rPr lang="de-DE" dirty="0"/>
              <a:t>Galaxy Schema</a:t>
            </a:r>
          </a:p>
        </p:txBody>
      </p:sp>
      <p:sp>
        <p:nvSpPr>
          <p:cNvPr id="3" name="Textfeld 2">
            <a:extLst>
              <a:ext uri="{FF2B5EF4-FFF2-40B4-BE49-F238E27FC236}">
                <a16:creationId xmlns:a16="http://schemas.microsoft.com/office/drawing/2014/main" id="{91E45CDD-F47D-7F96-C9A6-A43E20426182}"/>
              </a:ext>
            </a:extLst>
          </p:cNvPr>
          <p:cNvSpPr txBox="1"/>
          <p:nvPr/>
        </p:nvSpPr>
        <p:spPr>
          <a:xfrm>
            <a:off x="353969" y="1898140"/>
            <a:ext cx="1685077" cy="523220"/>
          </a:xfrm>
          <a:prstGeom prst="rect">
            <a:avLst/>
          </a:prstGeom>
          <a:noFill/>
        </p:spPr>
        <p:txBody>
          <a:bodyPr wrap="none" rtlCol="0">
            <a:spAutoFit/>
          </a:bodyPr>
          <a:lstStyle/>
          <a:p>
            <a:r>
              <a:rPr lang="de-DE" sz="2800" b="1" dirty="0"/>
              <a:t>Mit SCDs</a:t>
            </a:r>
          </a:p>
        </p:txBody>
      </p:sp>
      <p:pic>
        <p:nvPicPr>
          <p:cNvPr id="6" name="Grafik 5">
            <a:extLst>
              <a:ext uri="{FF2B5EF4-FFF2-40B4-BE49-F238E27FC236}">
                <a16:creationId xmlns:a16="http://schemas.microsoft.com/office/drawing/2014/main" id="{0F138F20-0FD1-EAF0-ECB1-C944E3841B3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641957" y="0"/>
            <a:ext cx="4623435" cy="6858000"/>
          </a:xfrm>
          <a:prstGeom prst="rect">
            <a:avLst/>
          </a:prstGeom>
        </p:spPr>
      </p:pic>
      <p:sp>
        <p:nvSpPr>
          <p:cNvPr id="9" name="Textfeld 8">
            <a:extLst>
              <a:ext uri="{FF2B5EF4-FFF2-40B4-BE49-F238E27FC236}">
                <a16:creationId xmlns:a16="http://schemas.microsoft.com/office/drawing/2014/main" id="{7F4D9F21-EE0C-77EE-09C3-536CCB745FD0}"/>
              </a:ext>
            </a:extLst>
          </p:cNvPr>
          <p:cNvSpPr txBox="1"/>
          <p:nvPr/>
        </p:nvSpPr>
        <p:spPr>
          <a:xfrm>
            <a:off x="239669" y="2960009"/>
            <a:ext cx="3840026" cy="523220"/>
          </a:xfrm>
          <a:prstGeom prst="rect">
            <a:avLst/>
          </a:prstGeom>
          <a:noFill/>
        </p:spPr>
        <p:txBody>
          <a:bodyPr wrap="none" rtlCol="0">
            <a:spAutoFit/>
          </a:bodyPr>
          <a:lstStyle/>
          <a:p>
            <a:r>
              <a:rPr lang="de-DE" sz="1400" dirty="0"/>
              <a:t>SCD0: Attribute werden automatisch generiert, </a:t>
            </a:r>
          </a:p>
          <a:p>
            <a:r>
              <a:rPr lang="de-DE" sz="1400" dirty="0"/>
              <a:t>daher keine Änderung notwendig</a:t>
            </a:r>
          </a:p>
        </p:txBody>
      </p:sp>
      <p:sp>
        <p:nvSpPr>
          <p:cNvPr id="5" name="Textfeld 4">
            <a:extLst>
              <a:ext uri="{FF2B5EF4-FFF2-40B4-BE49-F238E27FC236}">
                <a16:creationId xmlns:a16="http://schemas.microsoft.com/office/drawing/2014/main" id="{98AB6B8C-56F1-28E8-201C-1EA535B163C3}"/>
              </a:ext>
            </a:extLst>
          </p:cNvPr>
          <p:cNvSpPr txBox="1"/>
          <p:nvPr/>
        </p:nvSpPr>
        <p:spPr>
          <a:xfrm>
            <a:off x="8997739" y="658574"/>
            <a:ext cx="2900265" cy="738664"/>
          </a:xfrm>
          <a:prstGeom prst="rect">
            <a:avLst/>
          </a:prstGeom>
          <a:noFill/>
        </p:spPr>
        <p:txBody>
          <a:bodyPr wrap="square" rtlCol="0">
            <a:spAutoFit/>
          </a:bodyPr>
          <a:lstStyle/>
          <a:p>
            <a:r>
              <a:rPr lang="de-DE" sz="1400" dirty="0"/>
              <a:t>SCD1: Es können Namensänderungen auftreten,</a:t>
            </a:r>
          </a:p>
          <a:p>
            <a:r>
              <a:rPr lang="de-DE" sz="1400" dirty="0"/>
              <a:t>Historisierung aber nicht relevant</a:t>
            </a:r>
          </a:p>
        </p:txBody>
      </p:sp>
      <p:sp>
        <p:nvSpPr>
          <p:cNvPr id="8" name="Textfeld 7">
            <a:extLst>
              <a:ext uri="{FF2B5EF4-FFF2-40B4-BE49-F238E27FC236}">
                <a16:creationId xmlns:a16="http://schemas.microsoft.com/office/drawing/2014/main" id="{BE82647E-DA08-904C-9686-78B17E1E2BF3}"/>
              </a:ext>
            </a:extLst>
          </p:cNvPr>
          <p:cNvSpPr txBox="1"/>
          <p:nvPr/>
        </p:nvSpPr>
        <p:spPr>
          <a:xfrm>
            <a:off x="4820813" y="2742565"/>
            <a:ext cx="2000611" cy="1384995"/>
          </a:xfrm>
          <a:prstGeom prst="rect">
            <a:avLst/>
          </a:prstGeom>
          <a:noFill/>
        </p:spPr>
        <p:txBody>
          <a:bodyPr wrap="square" rtlCol="0">
            <a:spAutoFit/>
          </a:bodyPr>
          <a:lstStyle/>
          <a:p>
            <a:r>
              <a:rPr lang="de-DE" sz="1400" dirty="0"/>
              <a:t>SCD3: Der Filialname kann sich ändern, eher seltener Vorgang,</a:t>
            </a:r>
          </a:p>
          <a:p>
            <a:r>
              <a:rPr lang="de-DE" sz="1400" dirty="0"/>
              <a:t>Informationen über alten Namen trotzdem wichtig</a:t>
            </a:r>
          </a:p>
        </p:txBody>
      </p:sp>
      <p:sp>
        <p:nvSpPr>
          <p:cNvPr id="11" name="Textfeld 10">
            <a:extLst>
              <a:ext uri="{FF2B5EF4-FFF2-40B4-BE49-F238E27FC236}">
                <a16:creationId xmlns:a16="http://schemas.microsoft.com/office/drawing/2014/main" id="{97E9B84A-AE4B-9768-2853-76649DB47F25}"/>
              </a:ext>
            </a:extLst>
          </p:cNvPr>
          <p:cNvSpPr txBox="1"/>
          <p:nvPr/>
        </p:nvSpPr>
        <p:spPr>
          <a:xfrm>
            <a:off x="5051249" y="5726779"/>
            <a:ext cx="3068623" cy="954107"/>
          </a:xfrm>
          <a:prstGeom prst="rect">
            <a:avLst/>
          </a:prstGeom>
          <a:noFill/>
        </p:spPr>
        <p:txBody>
          <a:bodyPr wrap="square" rtlCol="0">
            <a:spAutoFit/>
          </a:bodyPr>
          <a:lstStyle/>
          <a:p>
            <a:r>
              <a:rPr lang="de-DE" sz="1400" dirty="0"/>
              <a:t>SCD4: Produktattribute können sich aufgrund von Inflation etc. oft ändern,</a:t>
            </a:r>
          </a:p>
          <a:p>
            <a:r>
              <a:rPr lang="de-DE" sz="1400" dirty="0"/>
              <a:t>Historisierung ist für die Analyse sehr wichtig</a:t>
            </a:r>
          </a:p>
        </p:txBody>
      </p:sp>
      <p:sp>
        <p:nvSpPr>
          <p:cNvPr id="4" name="Foliennummernplatzhalter 3">
            <a:extLst>
              <a:ext uri="{FF2B5EF4-FFF2-40B4-BE49-F238E27FC236}">
                <a16:creationId xmlns:a16="http://schemas.microsoft.com/office/drawing/2014/main" id="{5109B500-DD44-7DC8-0793-1FAF4FBF468C}"/>
              </a:ext>
            </a:extLst>
          </p:cNvPr>
          <p:cNvSpPr>
            <a:spLocks noGrp="1"/>
          </p:cNvSpPr>
          <p:nvPr>
            <p:ph type="sldNum" sz="quarter" idx="12"/>
          </p:nvPr>
        </p:nvSpPr>
        <p:spPr/>
        <p:txBody>
          <a:bodyPr/>
          <a:lstStyle/>
          <a:p>
            <a:fld id="{9B251280-DAE6-4033-B7F4-5E0D817A0287}" type="slidenum">
              <a:rPr lang="de-DE" smtClean="0"/>
              <a:t>11</a:t>
            </a:fld>
            <a:endParaRPr lang="de-DE"/>
          </a:p>
        </p:txBody>
      </p:sp>
    </p:spTree>
    <p:extLst>
      <p:ext uri="{BB962C8B-B14F-4D97-AF65-F5344CB8AC3E}">
        <p14:creationId xmlns:p14="http://schemas.microsoft.com/office/powerpoint/2010/main" val="11907788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D506AFC-55D7-40D5-84C4-433E6F84B2D6}"/>
              </a:ext>
            </a:extLst>
          </p:cNvPr>
          <p:cNvSpPr>
            <a:spLocks noGrp="1"/>
          </p:cNvSpPr>
          <p:nvPr>
            <p:ph type="title"/>
          </p:nvPr>
        </p:nvSpPr>
        <p:spPr/>
        <p:txBody>
          <a:bodyPr/>
          <a:lstStyle/>
          <a:p>
            <a:r>
              <a:rPr lang="de-DE" dirty="0"/>
              <a:t>Schedule von ETL</a:t>
            </a:r>
          </a:p>
        </p:txBody>
      </p:sp>
      <p:sp>
        <p:nvSpPr>
          <p:cNvPr id="3" name="Inhaltsplatzhalter 2">
            <a:extLst>
              <a:ext uri="{FF2B5EF4-FFF2-40B4-BE49-F238E27FC236}">
                <a16:creationId xmlns:a16="http://schemas.microsoft.com/office/drawing/2014/main" id="{0480BDF2-C30D-4EBB-B71C-961D344D3752}"/>
              </a:ext>
            </a:extLst>
          </p:cNvPr>
          <p:cNvSpPr>
            <a:spLocks noGrp="1"/>
          </p:cNvSpPr>
          <p:nvPr>
            <p:ph idx="1"/>
          </p:nvPr>
        </p:nvSpPr>
        <p:spPr/>
        <p:txBody>
          <a:bodyPr/>
          <a:lstStyle/>
          <a:p>
            <a:r>
              <a:rPr lang="de-DE" dirty="0" err="1"/>
              <a:t>D_Datum</a:t>
            </a:r>
            <a:r>
              <a:rPr lang="de-DE" dirty="0"/>
              <a:t>: 1x jährlich</a:t>
            </a:r>
          </a:p>
          <a:p>
            <a:r>
              <a:rPr lang="de-DE" dirty="0" err="1"/>
              <a:t>D_Zeit</a:t>
            </a:r>
            <a:r>
              <a:rPr lang="de-DE" dirty="0"/>
              <a:t>: einmalig</a:t>
            </a:r>
          </a:p>
          <a:p>
            <a:r>
              <a:rPr lang="de-DE" dirty="0" err="1"/>
              <a:t>D_Verkäufer</a:t>
            </a:r>
            <a:r>
              <a:rPr lang="de-DE" dirty="0"/>
              <a:t>: 1x monatlich</a:t>
            </a:r>
          </a:p>
          <a:p>
            <a:r>
              <a:rPr lang="de-DE" dirty="0" err="1"/>
              <a:t>D_Verkaufsvorgänge</a:t>
            </a:r>
            <a:r>
              <a:rPr lang="de-DE" dirty="0"/>
              <a:t>: 1x täglich</a:t>
            </a:r>
          </a:p>
          <a:p>
            <a:r>
              <a:rPr lang="de-DE" dirty="0" err="1"/>
              <a:t>D_Filialen</a:t>
            </a:r>
            <a:r>
              <a:rPr lang="de-DE" dirty="0"/>
              <a:t>: 1x monatlich</a:t>
            </a:r>
          </a:p>
          <a:p>
            <a:r>
              <a:rPr lang="de-DE" dirty="0" err="1"/>
              <a:t>D_Produkte</a:t>
            </a:r>
            <a:r>
              <a:rPr lang="de-DE" dirty="0"/>
              <a:t>: 1x wöchentlich</a:t>
            </a:r>
          </a:p>
          <a:p>
            <a:r>
              <a:rPr lang="de-DE" dirty="0" err="1"/>
              <a:t>F_Verkäufe</a:t>
            </a:r>
            <a:r>
              <a:rPr lang="de-DE" dirty="0"/>
              <a:t>: 1x täglich</a:t>
            </a:r>
          </a:p>
          <a:p>
            <a:r>
              <a:rPr lang="de-DE" dirty="0" err="1"/>
              <a:t>F_Verkäuferumsatz</a:t>
            </a:r>
            <a:r>
              <a:rPr lang="de-DE" dirty="0"/>
              <a:t>: 1x täglich</a:t>
            </a:r>
          </a:p>
        </p:txBody>
      </p:sp>
      <p:sp>
        <p:nvSpPr>
          <p:cNvPr id="4" name="Foliennummernplatzhalter 3">
            <a:extLst>
              <a:ext uri="{FF2B5EF4-FFF2-40B4-BE49-F238E27FC236}">
                <a16:creationId xmlns:a16="http://schemas.microsoft.com/office/drawing/2014/main" id="{75771698-8527-EB68-0C9B-54224694B64F}"/>
              </a:ext>
            </a:extLst>
          </p:cNvPr>
          <p:cNvSpPr>
            <a:spLocks noGrp="1"/>
          </p:cNvSpPr>
          <p:nvPr>
            <p:ph type="sldNum" sz="quarter" idx="12"/>
          </p:nvPr>
        </p:nvSpPr>
        <p:spPr/>
        <p:txBody>
          <a:bodyPr/>
          <a:lstStyle/>
          <a:p>
            <a:fld id="{9B251280-DAE6-4033-B7F4-5E0D817A0287}" type="slidenum">
              <a:rPr lang="de-DE" smtClean="0"/>
              <a:t>12</a:t>
            </a:fld>
            <a:endParaRPr lang="de-DE"/>
          </a:p>
        </p:txBody>
      </p:sp>
    </p:spTree>
    <p:extLst>
      <p:ext uri="{BB962C8B-B14F-4D97-AF65-F5344CB8AC3E}">
        <p14:creationId xmlns:p14="http://schemas.microsoft.com/office/powerpoint/2010/main" val="41149640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69FE8D-0CB5-4023-A492-99B9D3B8977F}"/>
              </a:ext>
            </a:extLst>
          </p:cNvPr>
          <p:cNvSpPr>
            <a:spLocks noGrp="1"/>
          </p:cNvSpPr>
          <p:nvPr>
            <p:ph type="title"/>
          </p:nvPr>
        </p:nvSpPr>
        <p:spPr/>
        <p:txBody>
          <a:bodyPr/>
          <a:lstStyle/>
          <a:p>
            <a:r>
              <a:rPr lang="de-DE" dirty="0"/>
              <a:t>Was haben wir gelernt?</a:t>
            </a:r>
          </a:p>
        </p:txBody>
      </p:sp>
      <p:sp>
        <p:nvSpPr>
          <p:cNvPr id="3" name="Inhaltsplatzhalter 2">
            <a:extLst>
              <a:ext uri="{FF2B5EF4-FFF2-40B4-BE49-F238E27FC236}">
                <a16:creationId xmlns:a16="http://schemas.microsoft.com/office/drawing/2014/main" id="{54BD74B3-4CB1-49EE-BE27-797EDCCA8A49}"/>
              </a:ext>
            </a:extLst>
          </p:cNvPr>
          <p:cNvSpPr>
            <a:spLocks noGrp="1"/>
          </p:cNvSpPr>
          <p:nvPr>
            <p:ph idx="1"/>
          </p:nvPr>
        </p:nvSpPr>
        <p:spPr/>
        <p:txBody>
          <a:bodyPr/>
          <a:lstStyle/>
          <a:p>
            <a:r>
              <a:rPr lang="de-DE" dirty="0"/>
              <a:t>Entscheidungen, die in der BDB unwichtig wirken, können bei der Realisation des DWH und besonders des ETL zu deutlich erhöhter Komplexität führen</a:t>
            </a:r>
          </a:p>
          <a:p>
            <a:r>
              <a:rPr lang="de-DE" dirty="0"/>
              <a:t> Wir mussten sehr viele Dinge, die für die Realität sinnvoll gewesen wären, weglassen, um den Rahmen nicht zu sprengen</a:t>
            </a:r>
            <a:br>
              <a:rPr lang="de-DE" dirty="0"/>
            </a:br>
            <a:r>
              <a:rPr lang="de-DE" dirty="0">
                <a:sym typeface="Wingdings" panose="05000000000000000000" pitchFamily="2" charset="2"/>
              </a:rPr>
              <a:t> Reale Projekte sind nochmal deutlich umfangreicher</a:t>
            </a:r>
            <a:endParaRPr lang="de-DE" dirty="0"/>
          </a:p>
        </p:txBody>
      </p:sp>
      <p:sp>
        <p:nvSpPr>
          <p:cNvPr id="4" name="Foliennummernplatzhalter 3">
            <a:extLst>
              <a:ext uri="{FF2B5EF4-FFF2-40B4-BE49-F238E27FC236}">
                <a16:creationId xmlns:a16="http://schemas.microsoft.com/office/drawing/2014/main" id="{437004E8-2310-0224-4296-3F47543FC5EA}"/>
              </a:ext>
            </a:extLst>
          </p:cNvPr>
          <p:cNvSpPr>
            <a:spLocks noGrp="1"/>
          </p:cNvSpPr>
          <p:nvPr>
            <p:ph type="sldNum" sz="quarter" idx="12"/>
          </p:nvPr>
        </p:nvSpPr>
        <p:spPr/>
        <p:txBody>
          <a:bodyPr/>
          <a:lstStyle/>
          <a:p>
            <a:fld id="{9B251280-DAE6-4033-B7F4-5E0D817A0287}" type="slidenum">
              <a:rPr lang="de-DE" smtClean="0"/>
              <a:t>13</a:t>
            </a:fld>
            <a:endParaRPr lang="de-DE"/>
          </a:p>
        </p:txBody>
      </p:sp>
    </p:spTree>
    <p:extLst>
      <p:ext uri="{BB962C8B-B14F-4D97-AF65-F5344CB8AC3E}">
        <p14:creationId xmlns:p14="http://schemas.microsoft.com/office/powerpoint/2010/main" val="2015700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81934A0-B267-A2F4-1A0D-57EDE9168D86}"/>
              </a:ext>
            </a:extLst>
          </p:cNvPr>
          <p:cNvSpPr>
            <a:spLocks noGrp="1"/>
          </p:cNvSpPr>
          <p:nvPr>
            <p:ph type="title"/>
          </p:nvPr>
        </p:nvSpPr>
        <p:spPr>
          <a:xfrm>
            <a:off x="697992" y="365125"/>
            <a:ext cx="10515600" cy="1325563"/>
          </a:xfrm>
        </p:spPr>
        <p:txBody>
          <a:bodyPr/>
          <a:lstStyle/>
          <a:p>
            <a:r>
              <a:rPr lang="de-DE" dirty="0"/>
              <a:t>Highlights</a:t>
            </a:r>
          </a:p>
        </p:txBody>
      </p:sp>
      <p:sp>
        <p:nvSpPr>
          <p:cNvPr id="3" name="Inhaltsplatzhalter 2">
            <a:extLst>
              <a:ext uri="{FF2B5EF4-FFF2-40B4-BE49-F238E27FC236}">
                <a16:creationId xmlns:a16="http://schemas.microsoft.com/office/drawing/2014/main" id="{F9B0685B-2211-B2A2-3B31-771E1EDA7435}"/>
              </a:ext>
            </a:extLst>
          </p:cNvPr>
          <p:cNvSpPr>
            <a:spLocks noGrp="1"/>
          </p:cNvSpPr>
          <p:nvPr>
            <p:ph idx="1"/>
          </p:nvPr>
        </p:nvSpPr>
        <p:spPr>
          <a:xfrm>
            <a:off x="697992" y="1422802"/>
            <a:ext cx="10515600" cy="2197735"/>
          </a:xfrm>
        </p:spPr>
        <p:txBody>
          <a:bodyPr/>
          <a:lstStyle/>
          <a:p>
            <a:r>
              <a:rPr lang="de-DE" dirty="0"/>
              <a:t>Aufsetzen der Datenbank</a:t>
            </a:r>
          </a:p>
          <a:p>
            <a:r>
              <a:rPr lang="de-DE" dirty="0"/>
              <a:t>Testen von Abfragen</a:t>
            </a:r>
          </a:p>
          <a:p>
            <a:r>
              <a:rPr lang="de-DE" dirty="0"/>
              <a:t>Angenehme und konstruktive Teamarbeit</a:t>
            </a:r>
          </a:p>
          <a:p>
            <a:r>
              <a:rPr lang="de-DE" dirty="0"/>
              <a:t>Praktische und gesammelte Anwendung der Kursinhalte</a:t>
            </a:r>
          </a:p>
        </p:txBody>
      </p:sp>
      <p:sp>
        <p:nvSpPr>
          <p:cNvPr id="4" name="Foliennummernplatzhalter 3">
            <a:extLst>
              <a:ext uri="{FF2B5EF4-FFF2-40B4-BE49-F238E27FC236}">
                <a16:creationId xmlns:a16="http://schemas.microsoft.com/office/drawing/2014/main" id="{98130954-41BD-47BA-02A1-D80BD511D557}"/>
              </a:ext>
            </a:extLst>
          </p:cNvPr>
          <p:cNvSpPr>
            <a:spLocks noGrp="1"/>
          </p:cNvSpPr>
          <p:nvPr>
            <p:ph type="sldNum" sz="quarter" idx="12"/>
          </p:nvPr>
        </p:nvSpPr>
        <p:spPr/>
        <p:txBody>
          <a:bodyPr/>
          <a:lstStyle/>
          <a:p>
            <a:fld id="{9B251280-DAE6-4033-B7F4-5E0D817A0287}" type="slidenum">
              <a:rPr lang="de-DE" smtClean="0"/>
              <a:t>14</a:t>
            </a:fld>
            <a:endParaRPr lang="de-DE"/>
          </a:p>
        </p:txBody>
      </p:sp>
      <p:sp>
        <p:nvSpPr>
          <p:cNvPr id="5" name="Titel 1">
            <a:extLst>
              <a:ext uri="{FF2B5EF4-FFF2-40B4-BE49-F238E27FC236}">
                <a16:creationId xmlns:a16="http://schemas.microsoft.com/office/drawing/2014/main" id="{512121AE-64ED-50D6-C549-A61B4D0DD65D}"/>
              </a:ext>
            </a:extLst>
          </p:cNvPr>
          <p:cNvSpPr txBox="1">
            <a:spLocks/>
          </p:cNvSpPr>
          <p:nvPr/>
        </p:nvSpPr>
        <p:spPr>
          <a:xfrm>
            <a:off x="697992" y="3352651"/>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t>Ratschlag</a:t>
            </a:r>
          </a:p>
        </p:txBody>
      </p:sp>
      <p:sp>
        <p:nvSpPr>
          <p:cNvPr id="6" name="Inhaltsplatzhalter 2">
            <a:extLst>
              <a:ext uri="{FF2B5EF4-FFF2-40B4-BE49-F238E27FC236}">
                <a16:creationId xmlns:a16="http://schemas.microsoft.com/office/drawing/2014/main" id="{FE729088-F7AE-CB09-A898-04E5D75BD0E3}"/>
              </a:ext>
            </a:extLst>
          </p:cNvPr>
          <p:cNvSpPr txBox="1">
            <a:spLocks/>
          </p:cNvSpPr>
          <p:nvPr/>
        </p:nvSpPr>
        <p:spPr>
          <a:xfrm>
            <a:off x="697992" y="4410329"/>
            <a:ext cx="10515600" cy="104559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Das Management Studio macht nicht, was es soll?</a:t>
            </a:r>
          </a:p>
          <a:p>
            <a:pPr marL="0" indent="0">
              <a:buNone/>
            </a:pPr>
            <a:r>
              <a:rPr lang="de-DE" dirty="0">
                <a:sym typeface="Wingdings" panose="05000000000000000000" pitchFamily="2" charset="2"/>
              </a:rPr>
              <a:t> Neustart hilft meistens</a:t>
            </a:r>
            <a:endParaRPr lang="de-DE" dirty="0"/>
          </a:p>
        </p:txBody>
      </p:sp>
    </p:spTree>
    <p:extLst>
      <p:ext uri="{BB962C8B-B14F-4D97-AF65-F5344CB8AC3E}">
        <p14:creationId xmlns:p14="http://schemas.microsoft.com/office/powerpoint/2010/main" val="3532617835"/>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633</Words>
  <Application>Microsoft Office PowerPoint</Application>
  <PresentationFormat>Breitbild</PresentationFormat>
  <Paragraphs>80</Paragraphs>
  <Slides>14</Slides>
  <Notes>5</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14</vt:i4>
      </vt:variant>
    </vt:vector>
  </HeadingPairs>
  <TitlesOfParts>
    <vt:vector size="19" baseType="lpstr">
      <vt:lpstr>Aptos</vt:lpstr>
      <vt:lpstr>Aptos Display</vt:lpstr>
      <vt:lpstr>Arial</vt:lpstr>
      <vt:lpstr>Wingdings</vt:lpstr>
      <vt:lpstr>Office</vt:lpstr>
      <vt:lpstr>Projekt Brotzeit</vt:lpstr>
      <vt:lpstr>Projektbeschreibung</vt:lpstr>
      <vt:lpstr>Einschränkungen / Randbedingungen</vt:lpstr>
      <vt:lpstr>Business-Datenbank</vt:lpstr>
      <vt:lpstr>ER-Modell</vt:lpstr>
      <vt:lpstr>ER-Modell</vt:lpstr>
      <vt:lpstr>Data Warehouse</vt:lpstr>
      <vt:lpstr>DWH-Fragen</vt:lpstr>
      <vt:lpstr>mER</vt:lpstr>
      <vt:lpstr>Logisches Modell Galaxy Schema</vt:lpstr>
      <vt:lpstr>Logisches Modell Galaxy Schema</vt:lpstr>
      <vt:lpstr>Schedule von ETL</vt:lpstr>
      <vt:lpstr>Was haben wir gelernt?</vt:lpstr>
      <vt:lpstr>Highlights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Tab Poth</dc:creator>
  <cp:lastModifiedBy>Tab Poth</cp:lastModifiedBy>
  <cp:revision>14</cp:revision>
  <dcterms:created xsi:type="dcterms:W3CDTF">2026-08-26T09:06:01Z</dcterms:created>
  <dcterms:modified xsi:type="dcterms:W3CDTF">2026-08-28T08:12:18Z</dcterms:modified>
</cp:coreProperties>
</file>